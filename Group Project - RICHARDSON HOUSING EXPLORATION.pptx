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7"/>
  </p:notesMasterIdLst>
  <p:sldIdLst>
    <p:sldId id="256" r:id="rId2"/>
    <p:sldId id="257" r:id="rId3"/>
    <p:sldId id="258" r:id="rId4"/>
    <p:sldId id="259" r:id="rId5"/>
    <p:sldId id="260" r:id="rId6"/>
    <p:sldId id="265" r:id="rId7"/>
    <p:sldId id="268" r:id="rId8"/>
    <p:sldId id="264" r:id="rId9"/>
    <p:sldId id="272" r:id="rId10"/>
    <p:sldId id="273" r:id="rId11"/>
    <p:sldId id="267" r:id="rId12"/>
    <p:sldId id="269" r:id="rId13"/>
    <p:sldId id="270" r:id="rId14"/>
    <p:sldId id="271" r:id="rId15"/>
    <p:sldId id="274" r:id="rId16"/>
    <p:sldId id="282" r:id="rId17"/>
    <p:sldId id="279" r:id="rId18"/>
    <p:sldId id="275" r:id="rId19"/>
    <p:sldId id="276" r:id="rId20"/>
    <p:sldId id="277" r:id="rId21"/>
    <p:sldId id="278" r:id="rId22"/>
    <p:sldId id="280" r:id="rId23"/>
    <p:sldId id="281" r:id="rId24"/>
    <p:sldId id="284"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A052574-0BF9-4762-B6D0-E59F6A74955F}">
          <p14:sldIdLst>
            <p14:sldId id="256"/>
            <p14:sldId id="257"/>
            <p14:sldId id="258"/>
          </p14:sldIdLst>
        </p14:section>
        <p14:section name="Data Exploration" id="{E6817305-7C2D-41E8-9169-CEA6A6CF6CD4}">
          <p14:sldIdLst>
            <p14:sldId id="259"/>
            <p14:sldId id="260"/>
            <p14:sldId id="265"/>
            <p14:sldId id="268"/>
            <p14:sldId id="264"/>
            <p14:sldId id="272"/>
            <p14:sldId id="273"/>
          </p14:sldIdLst>
        </p14:section>
        <p14:section name="Alex" id="{669BDCA6-F337-435F-B16C-8BB8D014DF00}">
          <p14:sldIdLst>
            <p14:sldId id="267"/>
            <p14:sldId id="269"/>
            <p14:sldId id="270"/>
            <p14:sldId id="271"/>
            <p14:sldId id="274"/>
            <p14:sldId id="282"/>
            <p14:sldId id="279"/>
          </p14:sldIdLst>
        </p14:section>
        <p14:section name="Daniel" id="{27A8B66D-E597-4E80-A0D1-F34D37896598}">
          <p14:sldIdLst>
            <p14:sldId id="275"/>
            <p14:sldId id="276"/>
            <p14:sldId id="277"/>
            <p14:sldId id="278"/>
            <p14:sldId id="280"/>
            <p14:sldId id="281"/>
            <p14:sldId id="284"/>
            <p14:sldId id="283"/>
          </p14:sldIdLst>
        </p14:section>
        <p14:section name="Khy" id="{037FD356-050B-47E8-A6D2-950E6ADA3BC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C60215-9287-4F19-97B7-4D60E721BE2B}" v="2460" dt="2024-11-21T23:26:53.507"/>
    <p1510:client id="{58A164B9-965A-C5E0-02E1-27C556BFE62A}" v="1478" dt="2024-11-21T04:33:24.912"/>
    <p1510:client id="{84A15220-76E3-2978-D19D-1F03C672F629}" v="312" dt="2024-11-21T04:48:02.332"/>
    <p1510:client id="{8727C73D-90AB-80DC-A0D5-DD01B8A06F9D}" v="5" dt="2024-11-21T20:44:21.542"/>
    <p1510:client id="{F5184D9D-960B-EAB6-7186-3C9249825D3F}" v="65" dt="2024-11-21T23:51:44.518"/>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0:56:28.335"/>
    </inkml:context>
    <inkml:brush xml:id="br0">
      <inkml:brushProperty name="width" value="0.035" units="cm"/>
      <inkml:brushProperty name="height" value="0.035" units="cm"/>
      <inkml:brushProperty name="color" value="#E71224"/>
    </inkml:brush>
  </inkml:definitions>
  <inkml:trace contextRef="#ctx0" brushRef="#br0">2169 257 24575,'-1'-4'0,"-1"-1"0,0 1 0,0 0 0,0 0 0,0 0 0,-1 0 0,1 0 0,-1 1 0,0-1 0,0 1 0,-5-5 0,-5-2 0,-2-1 0,1 2 0,-2 0 0,1 0 0,-1 2 0,0 0 0,-29-8 0,-7 0 0,-68-10 0,-148-5 0,146 19 0,-33-4 0,-100-11 0,225 23 0,-1 1 0,0 1 0,0 1 0,0 2 0,0 1 0,0 2 0,1 1 0,-1 1 0,2 2 0,-1 1 0,1 1 0,1 1 0,-28 17 0,40-20 0,-197 120 0,157-89 0,2 3 0,-93 94 0,131-120 0,7-8 0,1 0 0,0 0 0,1 0 0,0 1 0,-10 18 0,15-25 0,1 1 0,0-1 0,0 0 0,1 0 0,-1 0 0,1 0 0,-1 1 0,1-1 0,0 0 0,0 0 0,0 1 0,1-1 0,-1 0 0,1 0 0,0 1 0,0-1 0,0 0 0,0 0 0,0 0 0,1 0 0,0 0 0,-1-1 0,1 1 0,0 0 0,0-1 0,4 4 0,7 7 0,2-1 0,0 0 0,0-1 0,1-1 0,0 0 0,1-1 0,18 7 0,40 23 0,-10 2 0,-38-22 0,1-1 0,1-2 0,60 25 0,-60-32 0,0-1 0,0-1 0,1-2 0,1-1 0,-1-1 0,35-1 0,-39-1 0,42 7 0,7 1 0,305-7 0,-126-24 0,-127 10 0,6-1 0,-34 14 0,47-2 0,-138 0 0,1 0 0,-1-1 0,0 0 0,0-1 0,-1 0 0,1 0 0,0-1 0,-1 1 0,0-2 0,0 1 0,8-8 0,9-8 0,36-39 0,-30 29 0,-25 24 0,-1 1 0,0-1 0,0 0 0,0 0 0,0 0 0,-1 0 0,0-1 0,0 1 0,-1-1 0,0 0 0,0 0 0,-1 0 0,1-8 0,1-12 0,-2 1 0,-3-33 0,0 23 0,2 32 0,0 0 0,0 0 0,-1 0 0,0-1 0,0 1 0,0 0 0,0 0 0,0 1 0,-1-1 0,0 0 0,0 0 0,0 1 0,0-1 0,0 1 0,-1-1 0,-4-3 0,1 2 0,-1-1 0,0 1 0,0 1 0,-1-1 0,1 1 0,-17-6 0,11 5 0,0 0 0,0-1 0,0-1 0,1 0 0,0-1 0,0 0 0,1-1 0,-18-18 0,3 1-1365,13 17-5461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0:56:33.211"/>
    </inkml:context>
    <inkml:brush xml:id="br0">
      <inkml:brushProperty name="width" value="0.035" units="cm"/>
      <inkml:brushProperty name="height" value="0.035" units="cm"/>
      <inkml:brushProperty name="color" value="#E71224"/>
    </inkml:brush>
  </inkml:definitions>
  <inkml:trace contextRef="#ctx0" brushRef="#br0">2261 305 24575,'-5'0'0,"-1"-1"0,1 0 0,-1 0 0,1 0 0,0 0 0,0-1 0,-1 0 0,1 0 0,-8-5 0,-42-31 0,9 5 0,-63-22 0,77 41 0,1-1 0,0-2 0,-42-31 0,66 41 0,-1 0 0,0 1 0,-1 0 0,0 0 0,0 1 0,0 0 0,0 0 0,-1 1 0,0 0 0,0 1 0,0 0 0,0 1 0,-11-1 0,-282 4 0,155 10 0,-75 3 0,-14-7 0,181-2 0,0 2 0,-61 17 0,100-20 0,0 0 0,1 2 0,0 0 0,0 0 0,0 2 0,1 0 0,0 1 0,1 0 0,0 1 0,0 1 0,1 0 0,-22 25 0,7-7 0,-38 33 0,44-44 0,2 0 0,0 2 0,1 0 0,2 1 0,-16 24 0,7-5 0,10-17 0,2 0 0,-14 30 0,25-46 0,1 0 0,-1 0 0,1 0 0,0 1 0,1-1 0,-1 0 0,2 1 0,-1-1 0,1 1 0,0-1 0,0 1 0,3 13 0,0-13 0,0 1 0,0-1 0,1 0 0,0 0 0,0 0 0,1-1 0,0 0 0,8 10 0,55 51 0,-33-34 0,8 9 0,3-2 0,1-1 0,2-3 0,62 37 0,-54-41 0,94 50 0,-124-70 0,0-2 0,1-1 0,51 12 0,-42-15 0,218 50 0,-34-8 0,-126-30 0,-32-8 0,0-3 0,0-2 0,0-4 0,82-6 0,-134 3 0,0-1 0,0 0 0,-1-1 0,1 0 0,-1 0 0,20-11 0,56-37 0,-29 15 0,47-30 0,-92 57 0,-1-1 0,0 0 0,0 0 0,-1-1 0,-1 0 0,12-18 0,-19 25 0,0 1 0,0-1 0,-1 1 0,1-1 0,-1 0 0,0 0 0,0 1 0,-1-1 0,1 0 0,-1 0 0,0 0 0,0 0 0,0 0 0,0 0 0,-1 0 0,-1-7 0,-3-4 0,0 1 0,-1 0 0,-9-17 0,9 20 0,0 0 0,1-1 0,0 0 0,-4-19 0,4-12 0,2 0 0,5-79 0,0 31 0,-2 87 0,1-28 0,-1 0 0,-2 0 0,-1 1 0,-2-1 0,-8-30 0,8 44 0,0 1 0,-2 0 0,0 0 0,0 1 0,-2-1 0,0 2 0,-1-1 0,0 2 0,-1-1 0,-1 1 0,0 1 0,-1 0 0,-19-15 0,13 13-32,16 12-116,-1 0 0,0 0 0,0 0 0,0 0-1,0 0 1,0 1 0,-1 0 0,-6-3 0,-1 3-6678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8:53.26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2,'145'11,"7"1,51-30,-201 18,64-5,0 3,1 4,-1 2,75 14,-127-15,-1 0,0 1,21 9,-24-9,1 1,0-2,1 0,-1 0,19 2,-1-5,27 5,-41-1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8:54.97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69,'8'5,"0"1,1-2,-1 1,1-1,0 0,0-1,0 0,1-1,-1 0,1 0,10 0,20 6,0 0,0-2,1-1,-1-2,1-3,55-4,-81 1,0 0,0-2,0 1,-1-2,1 0,-1 0,25-17,-24 14,0 0,1 1,1 1,-1 0,35-8,48 7,-69 7,45-6,-61 4,1 0,0 1,0 1,1 0,-1 1,0 1,0 0,0 1,0 1,0 0,-1 1,1 1,-1 0,22 12,-21-7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8:59.63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1,'4'0,"0"1,0 1,1-1,-1 0,0 1,0 0,0 0,-1 0,6 4,21 10,3-6,0-2,1-2,0-1,35 1,142-6,-89-3,348 3,-455 1,0 0,0 1,0 0,0 2,0 0,-1 0,1 1,-1 1,0 0,24 16,-23-10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06.00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3,'200'-3,"214"6,-389 0,-1 2,1 0,-1 1,25 11,-22-8,1-1,52 9,216 4,-227-17,-42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07.49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46,'649'0,"-609"-2,0-2,58-13,-61 9,1 2,61-3,-85 9,0 1,-1 0,1 1,-1 1,0 0,0 0,0 2,0-1,-1 2,1 0,14 9,79 45,25 16,-120-68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09.02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95,'72'10,"-60"-7,1-1,-1 0,0-1,1 0,19-1,32-11,114-34,-113 26,100-16,-144 33,0 1,0 1,0 0,1 2,32 6,96 35,-72-18,-30-12,-31-9,0 0,0 2,0 0,-1 0,17 11,79 47,-98-59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10.56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0 206,'40'-1,"-1"-2,0-1,0-3,46-12,144-60,-167 55,-16 8,1 3,0 1,0 2,1 2,72-2,-96 10,0 1,0 1,-1 1,30 7,-42-7,1 1,-1 0,1 1,-1 0,0 1,-1 0,0 0,0 1,0 0,10 11,-10-7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12.037"/>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90,'68'21,"-33"-20,-1-2,1-1,0-1,-1-2,57-17,-41 11,85-11,-77 19,156-19,-174 14,1 2,0 2,43 2,-64 3,1 0,-1 2,0 0,0 2,-1 0,1 1,-1 1,21 11,-22-10,-3-2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13.64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19,'1'-1,"-1"0,0 0,1 0,-1 0,1 0,-1 0,1 0,-1 1,1-1,0 0,-1 0,1 0,0 1,0-1,-1 0,1 1,0-1,0 1,0-1,0 1,0-1,0 1,0-1,0 1,0 0,0 0,0 0,0-1,0 1,0 0,0 0,0 0,0 1,0-1,0 0,0 0,2 1,40 7,0 6,1-2,1-2,0-2,0-2,81 1,14-9,67 2,-118 11,-55-6,53 2,-59-7,-1 1,1 2,31 6,-35-5,1-1,24 0,-27-3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15.576"/>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0,'0'1,"1"0,-1 0,1 0,-1 0,1 0,-1 0,1 0,0 0,-1-1,1 1,0 0,0 0,-1-1,1 1,0 0,0-1,0 1,0-1,0 1,0-1,0 0,0 1,0-1,0 0,0 0,0 1,2-1,34 4,-32-4,435 3,-222-6,-108 1,124 5,-213 1,-1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0:59:17.32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1,'0'2,"1"-1,-1 1,1 0,-1 0,1-1,0 1,0-1,0 1,0-1,0 1,0-1,0 1,1-1,-1 0,0 0,1 0,-1 0,1 0,-1 0,1 0,0 0,-1 0,1-1,0 1,3 0,45 10,25-6,113-6,-69-2,254-11,-24 5,-308 9,-23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23.18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1,'46'2,"45"8,37 1,504-10,-305-2,-307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25.395"/>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1,'640'0,"-603"2,48 8,-47-5,42 2,-41-9,0-1,52-11,-83 12,1 1,-1 0,0 0,1 0,-1 1,1 1,-1-1,0 1,1 1,-1-1,0 1,0 1,0 0,0 0,0 0,-1 1,0 0,14 10,7 6,-21-14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27.62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1,'12'1,"0"0,0 1,0 1,0 0,13 6,39 8,133 4,32 5,-163-19,0-2,109-7,-52 0,-84 0,46-8,35-2,-101 12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29.80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0 114,'463'-23,"-441"21,7-2,50-12,-1-1,30-2,108-13,-198 33,0 0,0 1,-1 1,1 1,-1 1,0 0,0 1,28 14,26 9,-55-23,0 0,0 2,0 0,-1 1,17 13,-21-13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38.70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1,'30'2,"0"2,0 0,-1 2,0 2,33 12,-24-8,1-1,40 6,338 66,-391-79,-1 0,1-2,-1-1,1-1,-1-1,1-1,0-1,41-12,26-1,-88 15,106-9,-104 9,1 1,-1 1,1-1,-1 1,1 0,-1 1,0 0,0 0,0 0,0 1,0 0,8 5,-5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40.45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17,'0'-1,"1"0,-1 0,1 0,0 0,-1 0,1 0,0 0,-1 1,1-1,0 0,0 0,0 1,0-1,0 0,0 1,0-1,0 1,0-1,0 1,0 0,0-1,0 1,0 0,0 0,1 0,-1-1,0 1,0 1,2-1,38 0,-39 0,413 21,-331-12,154 38,-218-43,0-1,0-1,0-1,23-1,-21-1,0 1,0 2,24 4,118 25,-106-22,-44-4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42.35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17,'0'-1,"1"0,-1 0,1 0,-1 0,1 0,-1 0,1 1,-1-1,1 0,0 0,-1 1,1-1,0 0,0 1,0-1,0 1,-1-1,1 1,0-1,0 1,0 0,0-1,0 1,0 0,0 0,0 0,0 0,0 0,2 0,32-1,809 19,-567-19,-258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45.64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0,'1300'0,"-1282"0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46:47.55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1,'1'1,"-1"1,0-1,0 0,1 1,-1-1,1 1,0-1,-1 0,1 1,0-1,0 0,0 0,-1 0,1 1,1-1,-1 0,0 0,0 0,0-1,0 1,1 0,1 1,36 13,-35-14,308 69,-206-50,-72-14,428 77,-413-78,0-3,57-3,-17-1,-81 1,1 1,-1-1,0 0,0-1,10-2,-4-1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51:18.81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1,'21'0,"0"2,0 1,-1 1,1 0,-1 2,0 0,-1 1,1 1,25 15,105 33,-139-51,1-1,0-1,0 0,0 0,0-2,20 2,79-5,-46-1,67 0,189 6,-251 8,-47-6,45 2,386-6,-214-2,-81-11,10 0,-151 12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51:20.51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2379 24,'-14'-1,"0"0,0-1,-15-5,-34-4,14 10,0 1,1 3,-1 1,-49 12,32-4,-130 4,-70-18,85-1,107 4,0 4,-139 26,166-25,-1-1,0-2,-76-6,17 0,70 1,0-1,-42-9,78 11,-50-4,-1 2,-82 4,37 2,77-3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51:22.603"/>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69,'4'1,"0"0,0 0,-1 1,1-1,0 1,-1 0,1 0,-1 0,4 3,20 10,-1-6,0-2,1 0,0-2,0-1,51 0,126-6,286-41,-386 31,-67 9,-1-1,0-1,0-3,-1 0,53-21,-76 24,0 0,1 2,-1 0,1 0,0 1,-1 0,1 1,0 1,21 1,9 5,65 15,-23-3,-72-15,30 4,0-1,59 1,-90-6,0 0,0 1,-1 0,1 1,-1 0,1 1,-1 0,0 1,0 0,16 12,45 18,-58-30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51:25.48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2424 131,'-50'-34,"7"7,37 22,-1 1,1 0,-1 1,0-1,0 1,0 1,-1-1,1 1,0 1,-1-1,-12 0,-12 1,-49 4,19 0,-527-3,538 3,1 2,-56 13,-28 3,14-1,76-11,-60 5,17-13,56-2,0 2,0 1,-54 10,64-8,-1 0,0-2,0 0,0-2,0 0,0-1,0-2,0 0,1-1,-39-13,-16-18,56 24,0 2,0 0,-29-8,-64-24,93 34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51:35.02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73,'110'2,"122"-4,-140-9,63-1,-86 11,113-15,-130 10,0 3,0 2,64 6,-36 6,-47-5,59 1,-57-7,53 0,120-15,-30-9,-135 18,-1 2,0 2,1 1,50 7,-71-3,-3 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03:51:52.26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0,'20'2,"0"1,0 0,0 2,-1 0,0 1,34 16,32 9,-65-25,4 2,0-1,1-2,0 0,0-1,30 0,-30-4,-1 0,0-1,0-1,0-2,0 0,0-2,-1 0,31-13,-31 11,0 1,0 1,1 1,0 1,0 2,0 0,0 1,0 1,40 7,-44-5,-1 2,1 0,-1 1,0 1,0 1,18 10,-22-9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68204-5ECE-4003-BDE3-1339D1962252}" type="datetimeFigureOut">
              <a:t>11/21/2024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52C829-BB63-4628-BF45-843E916A19FF}" type="slidenum">
              <a:t>‹#›</a:t>
            </a:fld>
            <a:endParaRPr lang="en-US"/>
          </a:p>
        </p:txBody>
      </p:sp>
    </p:spTree>
    <p:extLst>
      <p:ext uri="{BB962C8B-B14F-4D97-AF65-F5344CB8AC3E}">
        <p14:creationId xmlns:p14="http://schemas.microsoft.com/office/powerpoint/2010/main" val="286556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Don’t want rich neighborhoods to all be listed as great but a house right next door that isnt good to get lumped with them. - i.e. Lemmon street in Dallas</a:t>
            </a:r>
          </a:p>
          <a:p>
            <a:r>
              <a:rPr lang="en-US">
                <a:cs typeface="Calibri"/>
              </a:rPr>
              <a:t>Hoped for interesting results from owners not living in the same city as the property, either flippers or multiple home owners</a:t>
            </a:r>
          </a:p>
        </p:txBody>
      </p:sp>
      <p:sp>
        <p:nvSpPr>
          <p:cNvPr id="4" name="Slide Number Placeholder 3"/>
          <p:cNvSpPr>
            <a:spLocks noGrp="1"/>
          </p:cNvSpPr>
          <p:nvPr>
            <p:ph type="sldNum" sz="quarter" idx="5"/>
          </p:nvPr>
        </p:nvSpPr>
        <p:spPr/>
        <p:txBody>
          <a:bodyPr/>
          <a:lstStyle/>
          <a:p>
            <a:fld id="{C752C829-BB63-4628-BF45-843E916A19FF}" type="slidenum">
              <a:t>20</a:t>
            </a:fld>
            <a:endParaRPr lang="en-US"/>
          </a:p>
        </p:txBody>
      </p:sp>
    </p:spTree>
    <p:extLst>
      <p:ext uri="{BB962C8B-B14F-4D97-AF65-F5344CB8AC3E}">
        <p14:creationId xmlns:p14="http://schemas.microsoft.com/office/powerpoint/2010/main" val="440216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75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96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68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447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0479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469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174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3125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555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90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11/21/2024</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70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11/21/2024</a:t>
            </a:fld>
            <a:endParaRPr lang="en-US"/>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195877986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25.png"/><Relationship Id="rId18" Type="http://schemas.openxmlformats.org/officeDocument/2006/relationships/customXml" Target="../ink/ink7.xml"/><Relationship Id="rId26" Type="http://schemas.openxmlformats.org/officeDocument/2006/relationships/customXml" Target="../ink/ink11.xml"/><Relationship Id="rId3" Type="http://schemas.openxmlformats.org/officeDocument/2006/relationships/image" Target="../media/image19.png"/><Relationship Id="rId21" Type="http://schemas.openxmlformats.org/officeDocument/2006/relationships/image" Target="../media/image29.png"/><Relationship Id="rId7" Type="http://schemas.openxmlformats.org/officeDocument/2006/relationships/image" Target="../media/image22.png"/><Relationship Id="rId12" Type="http://schemas.openxmlformats.org/officeDocument/2006/relationships/customXml" Target="../ink/ink4.xml"/><Relationship Id="rId17" Type="http://schemas.openxmlformats.org/officeDocument/2006/relationships/image" Target="../media/image27.png"/><Relationship Id="rId25" Type="http://schemas.openxmlformats.org/officeDocument/2006/relationships/image" Target="../media/image31.png"/><Relationship Id="rId2" Type="http://schemas.openxmlformats.org/officeDocument/2006/relationships/image" Target="../media/image18.png"/><Relationship Id="rId16" Type="http://schemas.openxmlformats.org/officeDocument/2006/relationships/customXml" Target="../ink/ink6.xml"/><Relationship Id="rId20" Type="http://schemas.openxmlformats.org/officeDocument/2006/relationships/customXml" Target="../ink/ink8.xml"/><Relationship Id="rId29"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24.png"/><Relationship Id="rId24" Type="http://schemas.openxmlformats.org/officeDocument/2006/relationships/customXml" Target="../ink/ink10.xml"/><Relationship Id="rId5" Type="http://schemas.openxmlformats.org/officeDocument/2006/relationships/image" Target="../media/image21.png"/><Relationship Id="rId15" Type="http://schemas.openxmlformats.org/officeDocument/2006/relationships/image" Target="../media/image26.png"/><Relationship Id="rId23" Type="http://schemas.openxmlformats.org/officeDocument/2006/relationships/image" Target="../media/image30.png"/><Relationship Id="rId28" Type="http://schemas.openxmlformats.org/officeDocument/2006/relationships/customXml" Target="../ink/ink12.xml"/><Relationship Id="rId10" Type="http://schemas.openxmlformats.org/officeDocument/2006/relationships/customXml" Target="../ink/ink3.xml"/><Relationship Id="rId19" Type="http://schemas.openxmlformats.org/officeDocument/2006/relationships/image" Target="../media/image28.png"/><Relationship Id="rId31" Type="http://schemas.openxmlformats.org/officeDocument/2006/relationships/image" Target="../media/image34.png"/><Relationship Id="rId4" Type="http://schemas.openxmlformats.org/officeDocument/2006/relationships/image" Target="../media/image20.png"/><Relationship Id="rId9" Type="http://schemas.openxmlformats.org/officeDocument/2006/relationships/image" Target="../media/image23.png"/><Relationship Id="rId14" Type="http://schemas.openxmlformats.org/officeDocument/2006/relationships/customXml" Target="../ink/ink5.xml"/><Relationship Id="rId22" Type="http://schemas.openxmlformats.org/officeDocument/2006/relationships/customXml" Target="../ink/ink9.xml"/><Relationship Id="rId27" Type="http://schemas.openxmlformats.org/officeDocument/2006/relationships/image" Target="../media/image32.png"/><Relationship Id="rId30" Type="http://schemas.openxmlformats.org/officeDocument/2006/relationships/customXml" Target="../ink/ink13.xml"/></Relationships>
</file>

<file path=ppt/slides/_rels/slide1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customXml" Target="../ink/ink17.xml"/><Relationship Id="rId18" Type="http://schemas.openxmlformats.org/officeDocument/2006/relationships/image" Target="../media/image45.png"/><Relationship Id="rId3" Type="http://schemas.openxmlformats.org/officeDocument/2006/relationships/image" Target="../media/image36.png"/><Relationship Id="rId21" Type="http://schemas.openxmlformats.org/officeDocument/2006/relationships/customXml" Target="../ink/ink21.xml"/><Relationship Id="rId7" Type="http://schemas.openxmlformats.org/officeDocument/2006/relationships/customXml" Target="../ink/ink14.xml"/><Relationship Id="rId12" Type="http://schemas.openxmlformats.org/officeDocument/2006/relationships/image" Target="../media/image42.png"/><Relationship Id="rId17" Type="http://schemas.openxmlformats.org/officeDocument/2006/relationships/customXml" Target="../ink/ink19.xml"/><Relationship Id="rId2" Type="http://schemas.openxmlformats.org/officeDocument/2006/relationships/image" Target="../media/image35.png"/><Relationship Id="rId16" Type="http://schemas.openxmlformats.org/officeDocument/2006/relationships/image" Target="../media/image44.png"/><Relationship Id="rId20"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customXml" Target="../ink/ink16.xml"/><Relationship Id="rId24" Type="http://schemas.openxmlformats.org/officeDocument/2006/relationships/image" Target="../media/image48.png"/><Relationship Id="rId5" Type="http://schemas.openxmlformats.org/officeDocument/2006/relationships/image" Target="../media/image38.png"/><Relationship Id="rId15" Type="http://schemas.openxmlformats.org/officeDocument/2006/relationships/customXml" Target="../ink/ink18.xml"/><Relationship Id="rId23" Type="http://schemas.openxmlformats.org/officeDocument/2006/relationships/customXml" Target="../ink/ink22.xml"/><Relationship Id="rId10" Type="http://schemas.openxmlformats.org/officeDocument/2006/relationships/image" Target="../media/image41.png"/><Relationship Id="rId19" Type="http://schemas.openxmlformats.org/officeDocument/2006/relationships/customXml" Target="../ink/ink20.xml"/><Relationship Id="rId4" Type="http://schemas.openxmlformats.org/officeDocument/2006/relationships/image" Target="../media/image37.png"/><Relationship Id="rId9" Type="http://schemas.openxmlformats.org/officeDocument/2006/relationships/customXml" Target="../ink/ink15.xml"/><Relationship Id="rId14" Type="http://schemas.openxmlformats.org/officeDocument/2006/relationships/image" Target="../media/image43.png"/><Relationship Id="rId22"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customXml" Target="../ink/ink27.xml"/><Relationship Id="rId3" Type="http://schemas.openxmlformats.org/officeDocument/2006/relationships/image" Target="../media/image58.png"/><Relationship Id="rId7" Type="http://schemas.openxmlformats.org/officeDocument/2006/relationships/customXml" Target="../ink/ink24.xml"/><Relationship Id="rId12" Type="http://schemas.openxmlformats.org/officeDocument/2006/relationships/image" Target="../media/image63.png"/><Relationship Id="rId2" Type="http://schemas.openxmlformats.org/officeDocument/2006/relationships/image" Target="../media/image57.png"/><Relationship Id="rId16"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0.png"/><Relationship Id="rId11" Type="http://schemas.openxmlformats.org/officeDocument/2006/relationships/customXml" Target="../ink/ink26.xml"/><Relationship Id="rId5" Type="http://schemas.openxmlformats.org/officeDocument/2006/relationships/customXml" Target="../ink/ink23.xml"/><Relationship Id="rId15" Type="http://schemas.openxmlformats.org/officeDocument/2006/relationships/customXml" Target="../ink/ink28.xml"/><Relationship Id="rId10" Type="http://schemas.openxmlformats.org/officeDocument/2006/relationships/image" Target="../media/image62.png"/><Relationship Id="rId4" Type="http://schemas.openxmlformats.org/officeDocument/2006/relationships/image" Target="../media/image59.png"/><Relationship Id="rId9" Type="http://schemas.openxmlformats.org/officeDocument/2006/relationships/customXml" Target="../ink/ink25.xml"/><Relationship Id="rId14" Type="http://schemas.openxmlformats.org/officeDocument/2006/relationships/image" Target="../media/image6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descr="An abstract genetic concept">
            <a:extLst>
              <a:ext uri="{FF2B5EF4-FFF2-40B4-BE49-F238E27FC236}">
                <a16:creationId xmlns:a16="http://schemas.microsoft.com/office/drawing/2014/main" id="{C9949E48-5989-CB0F-C240-AD7F7FAD6F37}"/>
              </a:ext>
            </a:extLst>
          </p:cNvPr>
          <p:cNvPicPr>
            <a:picLocks noChangeAspect="1"/>
          </p:cNvPicPr>
          <p:nvPr/>
        </p:nvPicPr>
        <p:blipFill>
          <a:blip r:embed="rId2">
            <a:duotone>
              <a:schemeClr val="accent1">
                <a:shade val="45000"/>
                <a:satMod val="135000"/>
              </a:schemeClr>
              <a:prstClr val="white"/>
            </a:duotone>
            <a:alphaModFix amt="35000"/>
          </a:blip>
          <a:srcRect t="25613" b="18137"/>
          <a:stretch/>
        </p:blipFill>
        <p:spPr>
          <a:xfrm>
            <a:off x="20" y="-8877"/>
            <a:ext cx="12191980" cy="6858000"/>
          </a:xfrm>
          <a:prstGeom prst="rect">
            <a:avLst/>
          </a:prstGeom>
        </p:spPr>
      </p:pic>
      <p:sp>
        <p:nvSpPr>
          <p:cNvPr id="2" name="Title 1">
            <a:extLst>
              <a:ext uri="{FF2B5EF4-FFF2-40B4-BE49-F238E27FC236}">
                <a16:creationId xmlns:a16="http://schemas.microsoft.com/office/drawing/2014/main" id="{84D3621D-E1CD-86BA-FC97-08D3B8897C56}"/>
              </a:ext>
            </a:extLst>
          </p:cNvPr>
          <p:cNvSpPr>
            <a:spLocks noGrp="1"/>
          </p:cNvSpPr>
          <p:nvPr>
            <p:ph type="ctrTitle"/>
          </p:nvPr>
        </p:nvSpPr>
        <p:spPr>
          <a:xfrm>
            <a:off x="1256275" y="2271449"/>
            <a:ext cx="9679449" cy="2847058"/>
          </a:xfrm>
        </p:spPr>
        <p:txBody>
          <a:bodyPr anchor="b">
            <a:normAutofit fontScale="90000"/>
          </a:bodyPr>
          <a:lstStyle/>
          <a:p>
            <a:pPr algn="ctr"/>
            <a:r>
              <a:rPr lang="en-US" sz="7200">
                <a:solidFill>
                  <a:srgbClr val="FFFFFF"/>
                </a:solidFill>
              </a:rPr>
              <a:t>RICHARDSON HOUSING EXPLORATION</a:t>
            </a:r>
          </a:p>
        </p:txBody>
      </p:sp>
      <p:sp>
        <p:nvSpPr>
          <p:cNvPr id="3" name="Subtitle 2">
            <a:extLst>
              <a:ext uri="{FF2B5EF4-FFF2-40B4-BE49-F238E27FC236}">
                <a16:creationId xmlns:a16="http://schemas.microsoft.com/office/drawing/2014/main" id="{970E6663-5305-398C-6B8B-EB6F5DACA3A3}"/>
              </a:ext>
            </a:extLst>
          </p:cNvPr>
          <p:cNvSpPr>
            <a:spLocks noGrp="1"/>
          </p:cNvSpPr>
          <p:nvPr>
            <p:ph type="subTitle" idx="1"/>
          </p:nvPr>
        </p:nvSpPr>
        <p:spPr>
          <a:xfrm>
            <a:off x="1256275" y="5098254"/>
            <a:ext cx="9679449" cy="750259"/>
          </a:xfrm>
        </p:spPr>
        <p:txBody>
          <a:bodyPr anchor="ctr">
            <a:normAutofit/>
          </a:bodyPr>
          <a:lstStyle/>
          <a:p>
            <a:pPr algn="ctr"/>
            <a:r>
              <a:rPr lang="en-US">
                <a:solidFill>
                  <a:srgbClr val="FFFFFF"/>
                </a:solidFill>
              </a:rPr>
              <a:t>Presented By: Daniel Roberts, </a:t>
            </a:r>
            <a:r>
              <a:rPr lang="en-US" err="1">
                <a:solidFill>
                  <a:srgbClr val="FFFFFF"/>
                </a:solidFill>
              </a:rPr>
              <a:t>Khy</a:t>
            </a:r>
            <a:r>
              <a:rPr lang="en-US">
                <a:solidFill>
                  <a:srgbClr val="FFFFFF"/>
                </a:solidFill>
              </a:rPr>
              <a:t>  Logan and Alex Miller</a:t>
            </a: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Tree>
    <p:extLst>
      <p:ext uri="{BB962C8B-B14F-4D97-AF65-F5344CB8AC3E}">
        <p14:creationId xmlns:p14="http://schemas.microsoft.com/office/powerpoint/2010/main" val="2964798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353C1207-D1C8-49E3-8837-E2B89D366F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large building with a circular lawn and a parking lot&#10;&#10;Description automatically generated">
            <a:extLst>
              <a:ext uri="{FF2B5EF4-FFF2-40B4-BE49-F238E27FC236}">
                <a16:creationId xmlns:a16="http://schemas.microsoft.com/office/drawing/2014/main" id="{0F13C0E4-B235-526F-BEC2-7117D2C461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712"/>
          <a:stretch/>
        </p:blipFill>
        <p:spPr>
          <a:xfrm>
            <a:off x="307775" y="261437"/>
            <a:ext cx="11576450" cy="6335126"/>
          </a:xfrm>
          <a:prstGeom prst="rect">
            <a:avLst/>
          </a:prstGeom>
        </p:spPr>
      </p:pic>
    </p:spTree>
    <p:extLst>
      <p:ext uri="{BB962C8B-B14F-4D97-AF65-F5344CB8AC3E}">
        <p14:creationId xmlns:p14="http://schemas.microsoft.com/office/powerpoint/2010/main" val="653505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1299A38-A1FA-0BDD-3DE0-55503A2BF773}"/>
              </a:ext>
            </a:extLst>
          </p:cNvPr>
          <p:cNvSpPr>
            <a:spLocks noGrp="1"/>
          </p:cNvSpPr>
          <p:nvPr>
            <p:ph type="title"/>
          </p:nvPr>
        </p:nvSpPr>
        <p:spPr>
          <a:xfrm>
            <a:off x="838200" y="365125"/>
            <a:ext cx="9804918" cy="1325563"/>
          </a:xfrm>
        </p:spPr>
        <p:txBody>
          <a:bodyPr>
            <a:normAutofit/>
          </a:bodyPr>
          <a:lstStyle/>
          <a:p>
            <a:r>
              <a:rPr lang="en-US">
                <a:solidFill>
                  <a:schemeClr val="bg1"/>
                </a:solidFill>
              </a:rPr>
              <a:t>Glimpse of the Raw Data</a:t>
            </a:r>
          </a:p>
        </p:txBody>
      </p:sp>
      <p:cxnSp>
        <p:nvCxnSpPr>
          <p:cNvPr id="11" name="Straight Connector 10">
            <a:extLst>
              <a:ext uri="{FF2B5EF4-FFF2-40B4-BE49-F238E27FC236}">
                <a16:creationId xmlns:a16="http://schemas.microsoft.com/office/drawing/2014/main" id="{94169334-264D-4176-8BDE-037249A61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3"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graphicFrame>
        <p:nvGraphicFramePr>
          <p:cNvPr id="4" name="Content Placeholder 3">
            <a:extLst>
              <a:ext uri="{FF2B5EF4-FFF2-40B4-BE49-F238E27FC236}">
                <a16:creationId xmlns:a16="http://schemas.microsoft.com/office/drawing/2014/main" id="{138E75B2-3F16-BEDB-DD57-3FD7300A38E5}"/>
              </a:ext>
            </a:extLst>
          </p:cNvPr>
          <p:cNvGraphicFramePr>
            <a:graphicFrameLocks noGrp="1"/>
          </p:cNvGraphicFramePr>
          <p:nvPr>
            <p:ph idx="1"/>
            <p:extLst>
              <p:ext uri="{D42A27DB-BD31-4B8C-83A1-F6EECF244321}">
                <p14:modId xmlns:p14="http://schemas.microsoft.com/office/powerpoint/2010/main" val="2580410058"/>
              </p:ext>
            </p:extLst>
          </p:nvPr>
        </p:nvGraphicFramePr>
        <p:xfrm>
          <a:off x="838200" y="1551992"/>
          <a:ext cx="10515605" cy="4401636"/>
        </p:xfrm>
        <a:graphic>
          <a:graphicData uri="http://schemas.openxmlformats.org/drawingml/2006/table">
            <a:tbl>
              <a:tblPr firstRow="1" bandRow="1">
                <a:tableStyleId>{08FB837D-C827-4EFA-A057-4D05807E0F7C}</a:tableStyleId>
              </a:tblPr>
              <a:tblGrid>
                <a:gridCol w="577871">
                  <a:extLst>
                    <a:ext uri="{9D8B030D-6E8A-4147-A177-3AD203B41FA5}">
                      <a16:colId xmlns:a16="http://schemas.microsoft.com/office/drawing/2014/main" val="2064992466"/>
                    </a:ext>
                  </a:extLst>
                </a:gridCol>
                <a:gridCol w="1055892">
                  <a:extLst>
                    <a:ext uri="{9D8B030D-6E8A-4147-A177-3AD203B41FA5}">
                      <a16:colId xmlns:a16="http://schemas.microsoft.com/office/drawing/2014/main" val="421932319"/>
                    </a:ext>
                  </a:extLst>
                </a:gridCol>
                <a:gridCol w="656010">
                  <a:extLst>
                    <a:ext uri="{9D8B030D-6E8A-4147-A177-3AD203B41FA5}">
                      <a16:colId xmlns:a16="http://schemas.microsoft.com/office/drawing/2014/main" val="1334754992"/>
                    </a:ext>
                  </a:extLst>
                </a:gridCol>
                <a:gridCol w="1000736">
                  <a:extLst>
                    <a:ext uri="{9D8B030D-6E8A-4147-A177-3AD203B41FA5}">
                      <a16:colId xmlns:a16="http://schemas.microsoft.com/office/drawing/2014/main" val="1712401044"/>
                    </a:ext>
                  </a:extLst>
                </a:gridCol>
                <a:gridCol w="942516">
                  <a:extLst>
                    <a:ext uri="{9D8B030D-6E8A-4147-A177-3AD203B41FA5}">
                      <a16:colId xmlns:a16="http://schemas.microsoft.com/office/drawing/2014/main" val="1226103298"/>
                    </a:ext>
                  </a:extLst>
                </a:gridCol>
                <a:gridCol w="1161609">
                  <a:extLst>
                    <a:ext uri="{9D8B030D-6E8A-4147-A177-3AD203B41FA5}">
                      <a16:colId xmlns:a16="http://schemas.microsoft.com/office/drawing/2014/main" val="1798999322"/>
                    </a:ext>
                  </a:extLst>
                </a:gridCol>
                <a:gridCol w="2736469">
                  <a:extLst>
                    <a:ext uri="{9D8B030D-6E8A-4147-A177-3AD203B41FA5}">
                      <a16:colId xmlns:a16="http://schemas.microsoft.com/office/drawing/2014/main" val="714305399"/>
                    </a:ext>
                  </a:extLst>
                </a:gridCol>
                <a:gridCol w="1077342">
                  <a:extLst>
                    <a:ext uri="{9D8B030D-6E8A-4147-A177-3AD203B41FA5}">
                      <a16:colId xmlns:a16="http://schemas.microsoft.com/office/drawing/2014/main" val="2082630372"/>
                    </a:ext>
                  </a:extLst>
                </a:gridCol>
                <a:gridCol w="1307160">
                  <a:extLst>
                    <a:ext uri="{9D8B030D-6E8A-4147-A177-3AD203B41FA5}">
                      <a16:colId xmlns:a16="http://schemas.microsoft.com/office/drawing/2014/main" val="4185409234"/>
                    </a:ext>
                  </a:extLst>
                </a:gridCol>
              </a:tblGrid>
              <a:tr h="206263">
                <a:tc>
                  <a:txBody>
                    <a:bodyPr/>
                    <a:lstStyle/>
                    <a:p>
                      <a:pPr algn="l" fontAlgn="b"/>
                      <a:r>
                        <a:rPr lang="en-US" sz="1100" b="0" u="none" strike="noStrike">
                          <a:solidFill>
                            <a:srgbClr val="000000"/>
                          </a:solidFill>
                          <a:effectLst/>
                        </a:rPr>
                        <a:t>TOT_VAL</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HMSTD_CAP_VAL</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REVAL_YR</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PREV_REVAL_YR</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PREV_MKT_VAL</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TOT_CONTRIB_AMT</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TAXPAYER_REP</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CITY_JURIS_DESC</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COUNTY_JURIS_DESC</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2887821"/>
                  </a:ext>
                </a:extLst>
              </a:tr>
              <a:tr h="206263">
                <a:tc>
                  <a:txBody>
                    <a:bodyPr/>
                    <a:lstStyle/>
                    <a:p>
                      <a:pPr algn="r" fontAlgn="b"/>
                      <a:r>
                        <a:rPr lang="en-US" sz="1100" b="0" u="none" strike="noStrike">
                          <a:solidFill>
                            <a:srgbClr val="000000"/>
                          </a:solidFill>
                          <a:effectLst/>
                        </a:rPr>
                        <a:t>344920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344920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2022</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309210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99260"/>
                  </a:ext>
                </a:extLst>
              </a:tr>
              <a:tr h="206263">
                <a:tc>
                  <a:txBody>
                    <a:bodyPr/>
                    <a:lstStyle/>
                    <a:p>
                      <a:pPr algn="r" fontAlgn="b"/>
                      <a:r>
                        <a:rPr lang="en-US" sz="1100" b="0" u="none" strike="noStrike">
                          <a:solidFill>
                            <a:srgbClr val="000000"/>
                          </a:solidFill>
                          <a:effectLst/>
                        </a:rPr>
                        <a:t>479110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380891</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411820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8963527"/>
                  </a:ext>
                </a:extLst>
              </a:tr>
              <a:tr h="206263">
                <a:tc>
                  <a:txBody>
                    <a:bodyPr/>
                    <a:lstStyle/>
                    <a:p>
                      <a:pPr algn="r" fontAlgn="b"/>
                      <a:r>
                        <a:rPr lang="en-US" sz="1100" b="0" u="none" strike="noStrike">
                          <a:solidFill>
                            <a:srgbClr val="000000"/>
                          </a:solidFill>
                          <a:effectLst/>
                        </a:rPr>
                        <a:t>416220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395187</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418240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72745"/>
                  </a:ext>
                </a:extLst>
              </a:tr>
              <a:tr h="206263">
                <a:tc>
                  <a:txBody>
                    <a:bodyPr/>
                    <a:lstStyle/>
                    <a:p>
                      <a:pPr algn="r" fontAlgn="b"/>
                      <a:r>
                        <a:rPr lang="en-US" sz="1100" b="0" u="none" strike="noStrike">
                          <a:solidFill>
                            <a:srgbClr val="000000"/>
                          </a:solidFill>
                          <a:effectLst/>
                        </a:rPr>
                        <a:t>568770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520526</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516150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028034"/>
                  </a:ext>
                </a:extLst>
              </a:tr>
              <a:tr h="206263">
                <a:tc>
                  <a:txBody>
                    <a:bodyPr/>
                    <a:lstStyle/>
                    <a:p>
                      <a:pPr algn="r" fontAlgn="b"/>
                      <a:r>
                        <a:rPr lang="en-US" sz="1100" b="0" u="none" strike="noStrike">
                          <a:solidFill>
                            <a:srgbClr val="000000"/>
                          </a:solidFill>
                          <a:effectLst/>
                        </a:rPr>
                        <a:t>542690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484000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542690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1660608"/>
                  </a:ext>
                </a:extLst>
              </a:tr>
              <a:tr h="206263">
                <a:tc>
                  <a:txBody>
                    <a:bodyPr/>
                    <a:lstStyle/>
                    <a:p>
                      <a:pPr algn="r" fontAlgn="b"/>
                      <a:r>
                        <a:rPr lang="en-US" sz="1100" b="0" u="none" strike="noStrike">
                          <a:solidFill>
                            <a:srgbClr val="000000"/>
                          </a:solidFill>
                          <a:effectLst/>
                        </a:rPr>
                        <a:t>408000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347457</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365730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8444846"/>
                  </a:ext>
                </a:extLst>
              </a:tr>
              <a:tr h="206263">
                <a:tc>
                  <a:txBody>
                    <a:bodyPr/>
                    <a:lstStyle/>
                    <a:p>
                      <a:pPr algn="r" fontAlgn="b"/>
                      <a:r>
                        <a:rPr lang="en-US" sz="1100" b="0" u="none" strike="noStrike">
                          <a:solidFill>
                            <a:srgbClr val="000000"/>
                          </a:solidFill>
                          <a:effectLst/>
                        </a:rPr>
                        <a:t>486900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392418</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423690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024973"/>
                  </a:ext>
                </a:extLst>
              </a:tr>
              <a:tr h="206263">
                <a:tc>
                  <a:txBody>
                    <a:bodyPr/>
                    <a:lstStyle/>
                    <a:p>
                      <a:pPr algn="r" fontAlgn="b"/>
                      <a:r>
                        <a:rPr lang="en-US" sz="1100" b="0" u="none" strike="noStrike">
                          <a:solidFill>
                            <a:srgbClr val="000000"/>
                          </a:solidFill>
                          <a:effectLst/>
                        </a:rPr>
                        <a:t>302110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301884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2022</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251570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306593"/>
                  </a:ext>
                </a:extLst>
              </a:tr>
              <a:tr h="206263">
                <a:tc>
                  <a:txBody>
                    <a:bodyPr/>
                    <a:lstStyle/>
                    <a:p>
                      <a:pPr algn="r" fontAlgn="b"/>
                      <a:r>
                        <a:rPr lang="en-US" sz="1100" b="0" u="none" strike="noStrike">
                          <a:solidFill>
                            <a:srgbClr val="000000"/>
                          </a:solidFill>
                          <a:effectLst/>
                        </a:rPr>
                        <a:t>281700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267888</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2022</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223240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849 MORRIS &amp; HOUPT PROPERTY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418609"/>
                  </a:ext>
                </a:extLst>
              </a:tr>
              <a:tr h="206263">
                <a:tc>
                  <a:txBody>
                    <a:bodyPr/>
                    <a:lstStyle/>
                    <a:p>
                      <a:pPr algn="r" fontAlgn="b"/>
                      <a:r>
                        <a:rPr lang="en-US" sz="1100" b="0" u="none" strike="noStrike">
                          <a:solidFill>
                            <a:srgbClr val="000000"/>
                          </a:solidFill>
                          <a:effectLst/>
                        </a:rPr>
                        <a:t>321670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312048</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260040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930 RESOLUTE PROPERTY TAX SOLUTIONS</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7990538"/>
                  </a:ext>
                </a:extLst>
              </a:tr>
              <a:tr h="206263">
                <a:tc>
                  <a:txBody>
                    <a:bodyPr/>
                    <a:lstStyle/>
                    <a:p>
                      <a:pPr algn="r" fontAlgn="b"/>
                      <a:r>
                        <a:rPr lang="en-US" sz="1100" b="0" u="none" strike="noStrike">
                          <a:solidFill>
                            <a:srgbClr val="000000"/>
                          </a:solidFill>
                          <a:effectLst/>
                        </a:rPr>
                        <a:t>282040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282040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2022</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250000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06684"/>
                  </a:ext>
                </a:extLst>
              </a:tr>
              <a:tr h="206263">
                <a:tc>
                  <a:txBody>
                    <a:bodyPr/>
                    <a:lstStyle/>
                    <a:p>
                      <a:pPr algn="r" fontAlgn="b"/>
                      <a:r>
                        <a:rPr lang="en-US" sz="1100" b="0" u="none" strike="noStrike">
                          <a:solidFill>
                            <a:srgbClr val="000000"/>
                          </a:solidFill>
                          <a:effectLst/>
                        </a:rPr>
                        <a:t>263760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206724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212290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8965935"/>
                  </a:ext>
                </a:extLst>
              </a:tr>
              <a:tr h="206263">
                <a:tc>
                  <a:txBody>
                    <a:bodyPr/>
                    <a:lstStyle/>
                    <a:p>
                      <a:pPr algn="r" fontAlgn="b"/>
                      <a:r>
                        <a:rPr lang="en-US" sz="1100" b="0" u="none" strike="noStrike">
                          <a:solidFill>
                            <a:srgbClr val="000000"/>
                          </a:solidFill>
                          <a:effectLst/>
                        </a:rPr>
                        <a:t>544770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423629</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459730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8319787"/>
                  </a:ext>
                </a:extLst>
              </a:tr>
              <a:tr h="206263">
                <a:tc>
                  <a:txBody>
                    <a:bodyPr/>
                    <a:lstStyle/>
                    <a:p>
                      <a:pPr algn="r" fontAlgn="b"/>
                      <a:r>
                        <a:rPr lang="en-US" sz="1100" b="0" u="none" strike="noStrike">
                          <a:solidFill>
                            <a:srgbClr val="000000"/>
                          </a:solidFill>
                          <a:effectLst/>
                        </a:rPr>
                        <a:t>558490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444420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484960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2081116"/>
                  </a:ext>
                </a:extLst>
              </a:tr>
              <a:tr h="206263">
                <a:tc>
                  <a:txBody>
                    <a:bodyPr/>
                    <a:lstStyle/>
                    <a:p>
                      <a:pPr algn="r" fontAlgn="b"/>
                      <a:r>
                        <a:rPr lang="en-US" sz="1100" b="0" u="none" strike="noStrike">
                          <a:solidFill>
                            <a:srgbClr val="000000"/>
                          </a:solidFill>
                          <a:effectLst/>
                        </a:rPr>
                        <a:t>418070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418070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363830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N98 OCONNOR &amp; ASSOCIATES</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5274918"/>
                  </a:ext>
                </a:extLst>
              </a:tr>
              <a:tr h="206263">
                <a:tc>
                  <a:txBody>
                    <a:bodyPr/>
                    <a:lstStyle/>
                    <a:p>
                      <a:pPr algn="r" fontAlgn="b"/>
                      <a:r>
                        <a:rPr lang="en-US" sz="1100" b="0" u="none" strike="noStrike">
                          <a:solidFill>
                            <a:srgbClr val="000000"/>
                          </a:solidFill>
                          <a:effectLst/>
                        </a:rPr>
                        <a:t>406050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401681</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374030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559804"/>
                  </a:ext>
                </a:extLst>
              </a:tr>
              <a:tr h="206263">
                <a:tc>
                  <a:txBody>
                    <a:bodyPr/>
                    <a:lstStyle/>
                    <a:p>
                      <a:pPr algn="r" fontAlgn="b"/>
                      <a:r>
                        <a:rPr lang="en-US" sz="1100" b="0" u="none" strike="noStrike">
                          <a:solidFill>
                            <a:srgbClr val="000000"/>
                          </a:solidFill>
                          <a:effectLst/>
                        </a:rPr>
                        <a:t>341640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341640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312020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2650216"/>
                  </a:ext>
                </a:extLst>
              </a:tr>
              <a:tr h="206263">
                <a:tc>
                  <a:txBody>
                    <a:bodyPr/>
                    <a:lstStyle/>
                    <a:p>
                      <a:pPr algn="r" fontAlgn="b"/>
                      <a:r>
                        <a:rPr lang="en-US" sz="1100" b="0" u="none" strike="noStrike">
                          <a:solidFill>
                            <a:srgbClr val="000000"/>
                          </a:solidFill>
                          <a:effectLst/>
                        </a:rPr>
                        <a:t>793260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629333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793260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 </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3510551"/>
                  </a:ext>
                </a:extLst>
              </a:tr>
              <a:tr h="206263">
                <a:tc>
                  <a:txBody>
                    <a:bodyPr/>
                    <a:lstStyle/>
                    <a:p>
                      <a:pPr algn="r" fontAlgn="b"/>
                      <a:r>
                        <a:rPr lang="en-US" sz="1100" b="0" u="none" strike="noStrike">
                          <a:solidFill>
                            <a:srgbClr val="000000"/>
                          </a:solidFill>
                          <a:effectLst/>
                        </a:rPr>
                        <a:t>398110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252468</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2024</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2023</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398110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a:solidFill>
                            <a:srgbClr val="000000"/>
                          </a:solidFill>
                          <a:effectLst/>
                        </a:rPr>
                        <a:t>0</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458 RAY TAX GROUP</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RICHARDSON</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0" u="none" strike="noStrike">
                          <a:solidFill>
                            <a:srgbClr val="000000"/>
                          </a:solidFill>
                          <a:effectLst/>
                        </a:rPr>
                        <a:t>DALLAS COUNTY</a:t>
                      </a:r>
                      <a:endParaRPr lang="en-US" sz="1100" b="0" i="0" u="none" strike="noStrike">
                        <a:solidFill>
                          <a:srgbClr val="000000"/>
                        </a:solidFill>
                        <a:effectLst/>
                        <a:latin typeface="Aptos Narrow" panose="020B0004020202020204" pitchFamily="34" charset="0"/>
                      </a:endParaRPr>
                    </a:p>
                  </a:txBody>
                  <a:tcPr marL="9171" marR="9171" marT="91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581938"/>
                  </a:ext>
                </a:extLst>
              </a:tr>
            </a:tbl>
          </a:graphicData>
        </a:graphic>
      </p:graphicFrame>
      <p:sp>
        <p:nvSpPr>
          <p:cNvPr id="3" name="TextBox 2">
            <a:extLst>
              <a:ext uri="{FF2B5EF4-FFF2-40B4-BE49-F238E27FC236}">
                <a16:creationId xmlns:a16="http://schemas.microsoft.com/office/drawing/2014/main" id="{5BC5D671-104B-D1D4-5670-52EE2507A402}"/>
              </a:ext>
            </a:extLst>
          </p:cNvPr>
          <p:cNvSpPr txBox="1"/>
          <p:nvPr/>
        </p:nvSpPr>
        <p:spPr>
          <a:xfrm>
            <a:off x="9728262" y="6275988"/>
            <a:ext cx="2178992" cy="646331"/>
          </a:xfrm>
          <a:prstGeom prst="rect">
            <a:avLst/>
          </a:prstGeom>
          <a:noFill/>
        </p:spPr>
        <p:txBody>
          <a:bodyPr wrap="square" rtlCol="0">
            <a:spAutoFit/>
          </a:bodyPr>
          <a:lstStyle/>
          <a:p>
            <a:r>
              <a:rPr lang="en-US">
                <a:solidFill>
                  <a:schemeClr val="bg1"/>
                </a:solidFill>
              </a:rPr>
              <a:t>Rows = 20000</a:t>
            </a:r>
          </a:p>
          <a:p>
            <a:r>
              <a:rPr lang="en-US">
                <a:solidFill>
                  <a:schemeClr val="bg1"/>
                </a:solidFill>
              </a:rPr>
              <a:t>Columns = 107</a:t>
            </a:r>
          </a:p>
        </p:txBody>
      </p:sp>
    </p:spTree>
    <p:extLst>
      <p:ext uri="{BB962C8B-B14F-4D97-AF65-F5344CB8AC3E}">
        <p14:creationId xmlns:p14="http://schemas.microsoft.com/office/powerpoint/2010/main" val="582684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67254-601F-A66F-FA93-7D21F8005A9D}"/>
              </a:ext>
            </a:extLst>
          </p:cNvPr>
          <p:cNvSpPr>
            <a:spLocks noGrp="1"/>
          </p:cNvSpPr>
          <p:nvPr>
            <p:ph type="title"/>
          </p:nvPr>
        </p:nvSpPr>
        <p:spPr>
          <a:xfrm>
            <a:off x="457200" y="1598246"/>
            <a:ext cx="4412419" cy="3626217"/>
          </a:xfrm>
        </p:spPr>
        <p:txBody>
          <a:bodyPr vert="horz" lIns="91440" tIns="45720" rIns="91440" bIns="45720" rtlCol="0" anchor="t">
            <a:normAutofit/>
          </a:bodyPr>
          <a:lstStyle/>
          <a:p>
            <a:pPr algn="ctr"/>
            <a:r>
              <a:rPr lang="en-US" sz="8000" b="1" i="0" kern="1200" cap="all" baseline="0">
                <a:solidFill>
                  <a:schemeClr val="bg1"/>
                </a:solidFill>
                <a:latin typeface="+mj-lt"/>
                <a:ea typeface="+mj-ea"/>
                <a:cs typeface="+mj-cs"/>
              </a:rPr>
              <a:t>DATA Clean UP</a:t>
            </a:r>
          </a:p>
        </p:txBody>
      </p:sp>
      <p:sp>
        <p:nvSpPr>
          <p:cNvPr id="25"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12034" y="1267063"/>
            <a:ext cx="139037" cy="139039"/>
          </a:xfrm>
          <a:custGeom>
            <a:avLst/>
            <a:gdLst>
              <a:gd name="connsiteX0" fmla="*/ 129600 w 139037"/>
              <a:gd name="connsiteY0" fmla="*/ 60082 h 139039"/>
              <a:gd name="connsiteX1" fmla="*/ 78955 w 139037"/>
              <a:gd name="connsiteY1" fmla="*/ 60082 h 139039"/>
              <a:gd name="connsiteX2" fmla="*/ 78955 w 139037"/>
              <a:gd name="connsiteY2" fmla="*/ 9437 h 139039"/>
              <a:gd name="connsiteX3" fmla="*/ 69519 w 139037"/>
              <a:gd name="connsiteY3" fmla="*/ 0 h 139039"/>
              <a:gd name="connsiteX4" fmla="*/ 60082 w 139037"/>
              <a:gd name="connsiteY4" fmla="*/ 9437 h 139039"/>
              <a:gd name="connsiteX5" fmla="*/ 60082 w 139037"/>
              <a:gd name="connsiteY5" fmla="*/ 60082 h 139039"/>
              <a:gd name="connsiteX6" fmla="*/ 9437 w 139037"/>
              <a:gd name="connsiteY6" fmla="*/ 60082 h 139039"/>
              <a:gd name="connsiteX7" fmla="*/ 0 w 139037"/>
              <a:gd name="connsiteY7" fmla="*/ 69520 h 139039"/>
              <a:gd name="connsiteX8" fmla="*/ 9437 w 139037"/>
              <a:gd name="connsiteY8" fmla="*/ 78957 h 139039"/>
              <a:gd name="connsiteX9" fmla="*/ 60082 w 139037"/>
              <a:gd name="connsiteY9" fmla="*/ 78957 h 139039"/>
              <a:gd name="connsiteX10" fmla="*/ 60082 w 139037"/>
              <a:gd name="connsiteY10" fmla="*/ 129602 h 139039"/>
              <a:gd name="connsiteX11" fmla="*/ 69519 w 139037"/>
              <a:gd name="connsiteY11" fmla="*/ 139039 h 139039"/>
              <a:gd name="connsiteX12" fmla="*/ 78955 w 139037"/>
              <a:gd name="connsiteY12" fmla="*/ 129602 h 139039"/>
              <a:gd name="connsiteX13" fmla="*/ 78955 w 139037"/>
              <a:gd name="connsiteY13" fmla="*/ 78957 h 139039"/>
              <a:gd name="connsiteX14" fmla="*/ 129600 w 139037"/>
              <a:gd name="connsiteY14" fmla="*/ 78957 h 139039"/>
              <a:gd name="connsiteX15" fmla="*/ 139037 w 139037"/>
              <a:gd name="connsiteY15" fmla="*/ 69520 h 139039"/>
              <a:gd name="connsiteX16" fmla="*/ 129600 w 139037"/>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7" h="139039">
                <a:moveTo>
                  <a:pt x="129600" y="60082"/>
                </a:moveTo>
                <a:lnTo>
                  <a:pt x="78955" y="60082"/>
                </a:lnTo>
                <a:lnTo>
                  <a:pt x="78955" y="9437"/>
                </a:lnTo>
                <a:cubicBezTo>
                  <a:pt x="78955" y="4225"/>
                  <a:pt x="74730" y="0"/>
                  <a:pt x="69519" y="0"/>
                </a:cubicBezTo>
                <a:cubicBezTo>
                  <a:pt x="64307"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7" y="139039"/>
                  <a:pt x="69519" y="139039"/>
                </a:cubicBezTo>
                <a:cubicBezTo>
                  <a:pt x="74730" y="139039"/>
                  <a:pt x="78955" y="134814"/>
                  <a:pt x="78955" y="129602"/>
                </a:cubicBezTo>
                <a:lnTo>
                  <a:pt x="78955" y="78957"/>
                </a:lnTo>
                <a:lnTo>
                  <a:pt x="129600" y="78957"/>
                </a:lnTo>
                <a:cubicBezTo>
                  <a:pt x="134812" y="78957"/>
                  <a:pt x="139037" y="74731"/>
                  <a:pt x="139037" y="69520"/>
                </a:cubicBezTo>
                <a:cubicBezTo>
                  <a:pt x="139037" y="64308"/>
                  <a:pt x="134812" y="60082"/>
                  <a:pt x="129600" y="60082"/>
                </a:cubicBezTo>
                <a:close/>
              </a:path>
            </a:pathLst>
          </a:custGeom>
          <a:solidFill>
            <a:schemeClr val="bg1"/>
          </a:solidFill>
          <a:ln w="603" cap="flat">
            <a:noFill/>
            <a:prstDash val="solid"/>
            <a:miter/>
          </a:ln>
        </p:spPr>
        <p:txBody>
          <a:bodyPr rtlCol="0" anchor="ctr"/>
          <a:lstStyle/>
          <a:p>
            <a:endParaRPr lang="en-US"/>
          </a:p>
        </p:txBody>
      </p:sp>
      <p:cxnSp>
        <p:nvCxnSpPr>
          <p:cNvPr id="27" name="Straight Connector 26">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5" name="Content Placeholder 4" descr="A blue and yellow circular object with a broom&#10;&#10;Description automatically generated with medium confidence">
            <a:extLst>
              <a:ext uri="{FF2B5EF4-FFF2-40B4-BE49-F238E27FC236}">
                <a16:creationId xmlns:a16="http://schemas.microsoft.com/office/drawing/2014/main" id="{B494179F-C9AB-00B1-8231-224C134C093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615" r="12956" b="-3"/>
          <a:stretch/>
        </p:blipFill>
        <p:spPr>
          <a:xfrm>
            <a:off x="6776503" y="1598246"/>
            <a:ext cx="3990710" cy="4783504"/>
          </a:xfrm>
          <a:prstGeom prst="rect">
            <a:avLst/>
          </a:prstGeom>
        </p:spPr>
      </p:pic>
      <p:sp>
        <p:nvSpPr>
          <p:cNvPr id="29"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52801" y="1659316"/>
            <a:ext cx="127713" cy="127714"/>
          </a:xfrm>
          <a:custGeom>
            <a:avLst/>
            <a:gdLst>
              <a:gd name="connsiteX0" fmla="*/ 63857 w 127713"/>
              <a:gd name="connsiteY0" fmla="*/ 18874 h 127714"/>
              <a:gd name="connsiteX1" fmla="*/ 108839 w 127713"/>
              <a:gd name="connsiteY1" fmla="*/ 63857 h 127714"/>
              <a:gd name="connsiteX2" fmla="*/ 63857 w 127713"/>
              <a:gd name="connsiteY2" fmla="*/ 108840 h 127714"/>
              <a:gd name="connsiteX3" fmla="*/ 18874 w 127713"/>
              <a:gd name="connsiteY3" fmla="*/ 63857 h 127714"/>
              <a:gd name="connsiteX4" fmla="*/ 63857 w 127713"/>
              <a:gd name="connsiteY4" fmla="*/ 18874 h 127714"/>
              <a:gd name="connsiteX5" fmla="*/ 63857 w 127713"/>
              <a:gd name="connsiteY5" fmla="*/ 0 h 127714"/>
              <a:gd name="connsiteX6" fmla="*/ 0 w 127713"/>
              <a:gd name="connsiteY6" fmla="*/ 63857 h 127714"/>
              <a:gd name="connsiteX7" fmla="*/ 63857 w 127713"/>
              <a:gd name="connsiteY7" fmla="*/ 127714 h 127714"/>
              <a:gd name="connsiteX8" fmla="*/ 127713 w 127713"/>
              <a:gd name="connsiteY8" fmla="*/ 63857 h 127714"/>
              <a:gd name="connsiteX9" fmla="*/ 63857 w 127713"/>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4">
                <a:moveTo>
                  <a:pt x="63857" y="18874"/>
                </a:moveTo>
                <a:cubicBezTo>
                  <a:pt x="88700" y="18874"/>
                  <a:pt x="108839" y="39014"/>
                  <a:pt x="108839" y="63857"/>
                </a:cubicBezTo>
                <a:cubicBezTo>
                  <a:pt x="108839" y="88700"/>
                  <a:pt x="88700" y="108840"/>
                  <a:pt x="63857" y="108840"/>
                </a:cubicBezTo>
                <a:cubicBezTo>
                  <a:pt x="39013" y="108840"/>
                  <a:pt x="18874" y="88700"/>
                  <a:pt x="18874" y="63857"/>
                </a:cubicBezTo>
                <a:cubicBezTo>
                  <a:pt x="18898" y="39024"/>
                  <a:pt x="39023" y="18898"/>
                  <a:pt x="63857" y="18874"/>
                </a:cubicBezTo>
                <a:moveTo>
                  <a:pt x="63857" y="0"/>
                </a:moveTo>
                <a:cubicBezTo>
                  <a:pt x="28590" y="0"/>
                  <a:pt x="0" y="28590"/>
                  <a:pt x="0" y="63857"/>
                </a:cubicBezTo>
                <a:cubicBezTo>
                  <a:pt x="0" y="99124"/>
                  <a:pt x="28590" y="127714"/>
                  <a:pt x="63857" y="127714"/>
                </a:cubicBezTo>
                <a:cubicBezTo>
                  <a:pt x="99124" y="127714"/>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spTree>
    <p:extLst>
      <p:ext uri="{BB962C8B-B14F-4D97-AF65-F5344CB8AC3E}">
        <p14:creationId xmlns:p14="http://schemas.microsoft.com/office/powerpoint/2010/main" val="3684171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353C1207-D1C8-49E3-8837-E2B89D366F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3" descr="A screenshot of a computer code&#10;&#10;Description automatically generated">
            <a:extLst>
              <a:ext uri="{FF2B5EF4-FFF2-40B4-BE49-F238E27FC236}">
                <a16:creationId xmlns:a16="http://schemas.microsoft.com/office/drawing/2014/main" id="{C3FD5747-52C2-704A-50F3-50A10D2D13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4077" y="3667327"/>
            <a:ext cx="7193667" cy="2827855"/>
          </a:xfrm>
        </p:spPr>
      </p:pic>
      <p:pic>
        <p:nvPicPr>
          <p:cNvPr id="25" name="Picture 24" descr="A screenshot of a computer program&#10;&#10;Description automatically generated">
            <a:extLst>
              <a:ext uri="{FF2B5EF4-FFF2-40B4-BE49-F238E27FC236}">
                <a16:creationId xmlns:a16="http://schemas.microsoft.com/office/drawing/2014/main" id="{DA895153-2ECD-C7C8-012D-8C61622DA4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482" y="348499"/>
            <a:ext cx="7668695" cy="3153215"/>
          </a:xfrm>
          <a:prstGeom prst="rect">
            <a:avLst/>
          </a:prstGeom>
        </p:spPr>
      </p:pic>
      <p:sp>
        <p:nvSpPr>
          <p:cNvPr id="2" name="TextBox 1">
            <a:extLst>
              <a:ext uri="{FF2B5EF4-FFF2-40B4-BE49-F238E27FC236}">
                <a16:creationId xmlns:a16="http://schemas.microsoft.com/office/drawing/2014/main" id="{4C3A1AD2-5DF1-8854-0B3C-CEE5FA5876FC}"/>
              </a:ext>
            </a:extLst>
          </p:cNvPr>
          <p:cNvSpPr txBox="1"/>
          <p:nvPr/>
        </p:nvSpPr>
        <p:spPr>
          <a:xfrm>
            <a:off x="612321" y="3992336"/>
            <a:ext cx="3657600" cy="2308324"/>
          </a:xfrm>
          <a:prstGeom prst="rect">
            <a:avLst/>
          </a:prstGeom>
          <a:noFill/>
        </p:spPr>
        <p:txBody>
          <a:bodyPr wrap="square" rtlCol="0">
            <a:spAutoFit/>
          </a:bodyPr>
          <a:lstStyle/>
          <a:p>
            <a:pPr marL="285750" indent="-285750">
              <a:buFont typeface="Wingdings" panose="05000000000000000000" pitchFamily="2" charset="2"/>
              <a:buChar char="Ø"/>
            </a:pPr>
            <a:r>
              <a:rPr lang="en-US"/>
              <a:t>Selecting relevant Columns</a:t>
            </a:r>
          </a:p>
          <a:p>
            <a:pPr marL="285750" indent="-285750">
              <a:buFont typeface="Wingdings" panose="05000000000000000000" pitchFamily="2" charset="2"/>
              <a:buChar char="Ø"/>
            </a:pPr>
            <a:r>
              <a:rPr lang="en-US"/>
              <a:t>Filtering out only Houses</a:t>
            </a:r>
          </a:p>
          <a:p>
            <a:pPr marL="285750" indent="-285750">
              <a:buFont typeface="Wingdings" panose="05000000000000000000" pitchFamily="2" charset="2"/>
              <a:buChar char="Ø"/>
            </a:pPr>
            <a:r>
              <a:rPr lang="en-US"/>
              <a:t>Cleaning up </a:t>
            </a:r>
            <a:r>
              <a:rPr lang="en-US" err="1"/>
              <a:t>ZipCode</a:t>
            </a:r>
            <a:r>
              <a:rPr lang="en-US"/>
              <a:t> (5 digits)</a:t>
            </a:r>
          </a:p>
          <a:p>
            <a:pPr marL="285750" indent="-285750">
              <a:buFont typeface="Wingdings" panose="05000000000000000000" pitchFamily="2" charset="2"/>
              <a:buChar char="Ø"/>
            </a:pPr>
            <a:r>
              <a:rPr lang="en-US"/>
              <a:t>Removing Non-Richardson Zip</a:t>
            </a:r>
          </a:p>
          <a:p>
            <a:pPr marL="285750" indent="-285750">
              <a:buFont typeface="Wingdings" panose="05000000000000000000" pitchFamily="2" charset="2"/>
              <a:buChar char="Ø"/>
            </a:pPr>
            <a:r>
              <a:rPr lang="en-US"/>
              <a:t>Removing Missing Values</a:t>
            </a:r>
          </a:p>
          <a:p>
            <a:pPr marL="285750" indent="-285750">
              <a:buFont typeface="Wingdings" panose="05000000000000000000" pitchFamily="2" charset="2"/>
              <a:buChar char="Ø"/>
            </a:pPr>
            <a:r>
              <a:rPr lang="en-US"/>
              <a:t>Removing Outliers</a:t>
            </a:r>
          </a:p>
        </p:txBody>
      </p:sp>
    </p:spTree>
    <p:extLst>
      <p:ext uri="{BB962C8B-B14F-4D97-AF65-F5344CB8AC3E}">
        <p14:creationId xmlns:p14="http://schemas.microsoft.com/office/powerpoint/2010/main" val="186759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graph of a graph of a number of housing values&#10;&#10;Description automatically generated">
            <a:extLst>
              <a:ext uri="{FF2B5EF4-FFF2-40B4-BE49-F238E27FC236}">
                <a16:creationId xmlns:a16="http://schemas.microsoft.com/office/drawing/2014/main" id="{0386BF11-9230-920A-64A1-DB5006863A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711" y="1344754"/>
            <a:ext cx="5167317" cy="4440794"/>
          </a:xfrm>
          <a:prstGeom prst="rect">
            <a:avLst/>
          </a:prstGeom>
        </p:spPr>
      </p:pic>
      <p:pic>
        <p:nvPicPr>
          <p:cNvPr id="2" name="Picture 1" descr="A graph of a living area&#10;&#10;Description automatically generated">
            <a:extLst>
              <a:ext uri="{FF2B5EF4-FFF2-40B4-BE49-F238E27FC236}">
                <a16:creationId xmlns:a16="http://schemas.microsoft.com/office/drawing/2014/main" id="{16AEDBEA-EEDE-8F68-565D-025AFEA5DC9A}"/>
              </a:ext>
            </a:extLst>
          </p:cNvPr>
          <p:cNvPicPr>
            <a:picLocks noChangeAspect="1"/>
          </p:cNvPicPr>
          <p:nvPr/>
        </p:nvPicPr>
        <p:blipFill>
          <a:blip r:embed="rId3"/>
          <a:stretch>
            <a:fillRect/>
          </a:stretch>
        </p:blipFill>
        <p:spPr>
          <a:xfrm>
            <a:off x="6407370" y="1343567"/>
            <a:ext cx="5164601" cy="4440941"/>
          </a:xfrm>
          <a:prstGeom prst="rect">
            <a:avLst/>
          </a:prstGeom>
        </p:spPr>
      </p:pic>
      <p:sp>
        <p:nvSpPr>
          <p:cNvPr id="4" name="Title 3">
            <a:extLst>
              <a:ext uri="{FF2B5EF4-FFF2-40B4-BE49-F238E27FC236}">
                <a16:creationId xmlns:a16="http://schemas.microsoft.com/office/drawing/2014/main" id="{A6A98B92-4D7B-0789-72F4-8207E2602BAC}"/>
              </a:ext>
            </a:extLst>
          </p:cNvPr>
          <p:cNvSpPr>
            <a:spLocks noGrp="1"/>
          </p:cNvSpPr>
          <p:nvPr>
            <p:ph type="title"/>
          </p:nvPr>
        </p:nvSpPr>
        <p:spPr>
          <a:xfrm>
            <a:off x="838200" y="365125"/>
            <a:ext cx="10515600" cy="978323"/>
          </a:xfrm>
        </p:spPr>
        <p:txBody>
          <a:bodyPr>
            <a:normAutofit fontScale="90000"/>
          </a:bodyPr>
          <a:lstStyle/>
          <a:p>
            <a:r>
              <a:rPr lang="en-US"/>
              <a:t>Housing Value and Living Area Histograms</a:t>
            </a:r>
          </a:p>
        </p:txBody>
      </p:sp>
    </p:spTree>
    <p:extLst>
      <p:ext uri="{BB962C8B-B14F-4D97-AF65-F5344CB8AC3E}">
        <p14:creationId xmlns:p14="http://schemas.microsoft.com/office/powerpoint/2010/main" val="1891435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09CB703-C563-4F1F-BF28-83C06E978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042151E-A90A-E90D-7DF4-1E10DB559528}"/>
              </a:ext>
            </a:extLst>
          </p:cNvPr>
          <p:cNvSpPr txBox="1"/>
          <p:nvPr/>
        </p:nvSpPr>
        <p:spPr>
          <a:xfrm>
            <a:off x="5207000" y="583345"/>
            <a:ext cx="5833787" cy="2274155"/>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r">
              <a:lnSpc>
                <a:spcPct val="90000"/>
              </a:lnSpc>
              <a:spcBef>
                <a:spcPct val="0"/>
              </a:spcBef>
              <a:spcAft>
                <a:spcPts val="600"/>
              </a:spcAft>
            </a:pPr>
            <a:r>
              <a:rPr lang="en-US" sz="5100" b="1" i="0" kern="1200" cap="all" baseline="0">
                <a:solidFill>
                  <a:schemeClr val="bg1"/>
                </a:solidFill>
                <a:latin typeface="+mj-lt"/>
                <a:ea typeface="+mj-ea"/>
                <a:cs typeface="+mj-cs"/>
              </a:rPr>
              <a:t>Housing Value vs Living Area Scatter Plots</a:t>
            </a: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5" name="Picture 4" descr="A chart showing a number of living areas&#10;&#10;Description automatically generated">
            <a:extLst>
              <a:ext uri="{FF2B5EF4-FFF2-40B4-BE49-F238E27FC236}">
                <a16:creationId xmlns:a16="http://schemas.microsoft.com/office/drawing/2014/main" id="{EEFFF1D4-F40E-DB11-19E1-75BA2F3E594F}"/>
              </a:ext>
            </a:extLst>
          </p:cNvPr>
          <p:cNvPicPr>
            <a:picLocks noChangeAspect="1"/>
          </p:cNvPicPr>
          <p:nvPr/>
        </p:nvPicPr>
        <p:blipFill>
          <a:blip r:embed="rId2"/>
          <a:stretch>
            <a:fillRect/>
          </a:stretch>
        </p:blipFill>
        <p:spPr>
          <a:xfrm>
            <a:off x="953889" y="585257"/>
            <a:ext cx="4326339" cy="2467221"/>
          </a:xfrm>
          <a:prstGeom prst="rect">
            <a:avLst/>
          </a:prstGeom>
        </p:spPr>
      </p:pic>
      <p:sp>
        <p:nvSpPr>
          <p:cNvPr id="1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44002" y="285749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2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2864" y="362847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pic>
        <p:nvPicPr>
          <p:cNvPr id="4" name="Picture 3" descr="A chart with colorful dots&#10;&#10;Description automatically generated">
            <a:extLst>
              <a:ext uri="{FF2B5EF4-FFF2-40B4-BE49-F238E27FC236}">
                <a16:creationId xmlns:a16="http://schemas.microsoft.com/office/drawing/2014/main" id="{E77ABD4E-3A8E-D767-23EF-5612478307E0}"/>
              </a:ext>
            </a:extLst>
          </p:cNvPr>
          <p:cNvPicPr>
            <a:picLocks noChangeAspect="1"/>
          </p:cNvPicPr>
          <p:nvPr/>
        </p:nvPicPr>
        <p:blipFill>
          <a:blip r:embed="rId3"/>
          <a:stretch>
            <a:fillRect/>
          </a:stretch>
        </p:blipFill>
        <p:spPr>
          <a:xfrm>
            <a:off x="934597" y="3628096"/>
            <a:ext cx="4374568" cy="2467222"/>
          </a:xfrm>
          <a:prstGeom prst="rect">
            <a:avLst/>
          </a:prstGeom>
        </p:spPr>
      </p:pic>
      <p:pic>
        <p:nvPicPr>
          <p:cNvPr id="6" name="Picture 5" descr="A chart with colorful dots&#10;&#10;Description automatically generated">
            <a:extLst>
              <a:ext uri="{FF2B5EF4-FFF2-40B4-BE49-F238E27FC236}">
                <a16:creationId xmlns:a16="http://schemas.microsoft.com/office/drawing/2014/main" id="{6F207687-0C4E-8093-617D-305262BFBA9A}"/>
              </a:ext>
            </a:extLst>
          </p:cNvPr>
          <p:cNvPicPr>
            <a:picLocks noChangeAspect="1"/>
          </p:cNvPicPr>
          <p:nvPr/>
        </p:nvPicPr>
        <p:blipFill>
          <a:blip r:embed="rId4"/>
          <a:stretch>
            <a:fillRect/>
          </a:stretch>
        </p:blipFill>
        <p:spPr>
          <a:xfrm>
            <a:off x="6493019" y="3615200"/>
            <a:ext cx="4345863" cy="2483368"/>
          </a:xfrm>
          <a:prstGeom prst="rect">
            <a:avLst/>
          </a:prstGeom>
        </p:spPr>
      </p:pic>
      <p:sp>
        <p:nvSpPr>
          <p:cNvPr id="2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9869" y="62108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spTree>
    <p:extLst>
      <p:ext uri="{BB962C8B-B14F-4D97-AF65-F5344CB8AC3E}">
        <p14:creationId xmlns:p14="http://schemas.microsoft.com/office/powerpoint/2010/main" val="556295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graph of a bar graph&#10;&#10;Description automatically generated">
            <a:extLst>
              <a:ext uri="{FF2B5EF4-FFF2-40B4-BE49-F238E27FC236}">
                <a16:creationId xmlns:a16="http://schemas.microsoft.com/office/drawing/2014/main" id="{25308422-15E2-A24F-BDB7-B4F8A0F59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2340" y="225868"/>
            <a:ext cx="8706256" cy="6466472"/>
          </a:xfrm>
          <a:prstGeom prst="rect">
            <a:avLst/>
          </a:prstGeom>
        </p:spPr>
      </p:pic>
    </p:spTree>
    <p:extLst>
      <p:ext uri="{BB962C8B-B14F-4D97-AF65-F5344CB8AC3E}">
        <p14:creationId xmlns:p14="http://schemas.microsoft.com/office/powerpoint/2010/main" val="2396231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12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4" name="Picture 3" descr="A graph of a histogram&#10;&#10;Description automatically generated">
            <a:extLst>
              <a:ext uri="{FF2B5EF4-FFF2-40B4-BE49-F238E27FC236}">
                <a16:creationId xmlns:a16="http://schemas.microsoft.com/office/drawing/2014/main" id="{48C5710D-D01E-90CD-155E-47D7C753F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434" y="293666"/>
            <a:ext cx="5334111" cy="3961850"/>
          </a:xfrm>
          <a:prstGeom prst="rect">
            <a:avLst/>
          </a:prstGeom>
        </p:spPr>
      </p:pic>
      <p:pic>
        <p:nvPicPr>
          <p:cNvPr id="6" name="Picture 5" descr="A graph of a graph of value percentage&#10;&#10;Description automatically generated">
            <a:extLst>
              <a:ext uri="{FF2B5EF4-FFF2-40B4-BE49-F238E27FC236}">
                <a16:creationId xmlns:a16="http://schemas.microsoft.com/office/drawing/2014/main" id="{AA166E30-CFD5-1234-BBF6-0F0C7AD057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3173" y="2367815"/>
            <a:ext cx="5818531" cy="4321648"/>
          </a:xfrm>
          <a:prstGeom prst="rect">
            <a:avLst/>
          </a:prstGeom>
        </p:spPr>
      </p:pic>
    </p:spTree>
    <p:extLst>
      <p:ext uri="{BB962C8B-B14F-4D97-AF65-F5344CB8AC3E}">
        <p14:creationId xmlns:p14="http://schemas.microsoft.com/office/powerpoint/2010/main" val="1467939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31000">
              <a:schemeClr val="accent1"/>
            </a:gs>
            <a:gs pos="71000">
              <a:schemeClr val="accent1">
                <a:lumMod val="40000"/>
                <a:lumOff val="60000"/>
              </a:schemeClr>
            </a:gs>
            <a:gs pos="0">
              <a:schemeClr val="accent1">
                <a:lumMod val="5000"/>
                <a:lumOff val="95000"/>
              </a:schemeClr>
            </a:gs>
            <a:gs pos="100000">
              <a:schemeClr val="accent1"/>
            </a:gs>
          </a:gsLst>
          <a:lin ang="5400000" scaled="1"/>
        </a:gradFill>
        <a:effectLst/>
      </p:bgPr>
    </p:bg>
    <p:spTree>
      <p:nvGrpSpPr>
        <p:cNvPr id="1" name=""/>
        <p:cNvGrpSpPr/>
        <p:nvPr/>
      </p:nvGrpSpPr>
      <p:grpSpPr>
        <a:xfrm>
          <a:off x="0" y="0"/>
          <a:ext cx="0" cy="0"/>
          <a:chOff x="0" y="0"/>
          <a:chExt cx="0" cy="0"/>
        </a:xfrm>
      </p:grpSpPr>
      <p:pic>
        <p:nvPicPr>
          <p:cNvPr id="3" name="Picture 2" descr="A chart with many colored dots&#10;&#10;Description automatically generated">
            <a:extLst>
              <a:ext uri="{FF2B5EF4-FFF2-40B4-BE49-F238E27FC236}">
                <a16:creationId xmlns:a16="http://schemas.microsoft.com/office/drawing/2014/main" id="{8DA12D83-133D-55DA-3F1D-6C2554CF6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933" y="168536"/>
            <a:ext cx="4003135" cy="2973283"/>
          </a:xfrm>
          <a:prstGeom prst="rect">
            <a:avLst/>
          </a:prstGeom>
        </p:spPr>
      </p:pic>
      <p:pic>
        <p:nvPicPr>
          <p:cNvPr id="9" name="Picture 8" descr="A chart with many colored dots&#10;&#10;Description automatically generated">
            <a:extLst>
              <a:ext uri="{FF2B5EF4-FFF2-40B4-BE49-F238E27FC236}">
                <a16:creationId xmlns:a16="http://schemas.microsoft.com/office/drawing/2014/main" id="{7A5152B1-0961-CC2B-72FA-B0B722C53E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933" y="3301466"/>
            <a:ext cx="4561494" cy="3387998"/>
          </a:xfrm>
          <a:prstGeom prst="rect">
            <a:avLst/>
          </a:prstGeom>
        </p:spPr>
      </p:pic>
      <p:pic>
        <p:nvPicPr>
          <p:cNvPr id="11" name="Picture 10" descr="A diagram of a number of colored dots&#10;&#10;Description automatically generated">
            <a:extLst>
              <a:ext uri="{FF2B5EF4-FFF2-40B4-BE49-F238E27FC236}">
                <a16:creationId xmlns:a16="http://schemas.microsoft.com/office/drawing/2014/main" id="{70E74294-42DD-C5F7-E346-9D9307DB4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8575" y="3058795"/>
            <a:ext cx="4937310" cy="3667131"/>
          </a:xfrm>
          <a:prstGeom prst="rect">
            <a:avLst/>
          </a:prstGeom>
        </p:spPr>
      </p:pic>
      <p:sp>
        <p:nvSpPr>
          <p:cNvPr id="13" name="TextBox 12">
            <a:extLst>
              <a:ext uri="{FF2B5EF4-FFF2-40B4-BE49-F238E27FC236}">
                <a16:creationId xmlns:a16="http://schemas.microsoft.com/office/drawing/2014/main" id="{B7154F6D-7BA2-7067-9096-18B24656BBBD}"/>
              </a:ext>
            </a:extLst>
          </p:cNvPr>
          <p:cNvSpPr txBox="1"/>
          <p:nvPr/>
        </p:nvSpPr>
        <p:spPr>
          <a:xfrm>
            <a:off x="6291342" y="970804"/>
            <a:ext cx="5038725" cy="1015663"/>
          </a:xfrm>
          <a:prstGeom prst="rect">
            <a:avLst/>
          </a:prstGeom>
          <a:noFill/>
        </p:spPr>
        <p:txBody>
          <a:bodyPr wrap="square" rtlCol="0">
            <a:spAutoFit/>
          </a:bodyPr>
          <a:lstStyle/>
          <a:p>
            <a:pPr algn="ctr"/>
            <a:r>
              <a:rPr lang="en-US" sz="3000">
                <a:solidFill>
                  <a:schemeClr val="bg1"/>
                </a:solidFill>
              </a:rPr>
              <a:t>Scatter Plots of Percentage Changes</a:t>
            </a:r>
          </a:p>
        </p:txBody>
      </p:sp>
    </p:spTree>
    <p:extLst>
      <p:ext uri="{BB962C8B-B14F-4D97-AF65-F5344CB8AC3E}">
        <p14:creationId xmlns:p14="http://schemas.microsoft.com/office/powerpoint/2010/main" val="1283239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FEFB280-E6FF-85A9-4CEC-3F801E1D4227}"/>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6000" b="1" i="0" kern="1200" cap="all" baseline="0">
                <a:solidFill>
                  <a:schemeClr val="bg1"/>
                </a:solidFill>
                <a:latin typeface="+mj-lt"/>
                <a:ea typeface="+mj-ea"/>
                <a:cs typeface="+mj-cs"/>
              </a:rPr>
              <a:t>Linear regression model exploration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5B72083-961F-4764-1C64-59AEBAA168FE}"/>
                  </a:ext>
                </a:extLst>
              </p:cNvPr>
              <p:cNvSpPr>
                <a:spLocks noGrp="1"/>
              </p:cNvSpPr>
              <p:nvPr>
                <p:ph type="body" idx="1"/>
              </p:nvPr>
            </p:nvSpPr>
            <p:spPr>
              <a:xfrm>
                <a:off x="1467717" y="3592192"/>
                <a:ext cx="9147940" cy="1324303"/>
              </a:xfrm>
            </p:spPr>
            <p:txBody>
              <a:bodyPr vert="horz" lIns="91440" tIns="45720" rIns="91440" bIns="45720" rtlCol="0" anchor="t">
                <a:normAutofit/>
              </a:bodyPr>
              <a:lstStyle/>
              <a:p>
                <a:pPr algn="ctr"/>
                <a14:m>
                  <m:oMath xmlns:m="http://schemas.openxmlformats.org/officeDocument/2006/math">
                    <m:r>
                      <a:rPr lang="en-US" sz="3500" b="0" i="1" kern="1200" smtClean="0">
                        <a:solidFill>
                          <a:schemeClr val="bg1"/>
                        </a:solidFill>
                        <a:latin typeface="Cambria Math" panose="02040503050406030204" pitchFamily="18" charset="0"/>
                        <a:ea typeface="+mn-ea"/>
                        <a:cs typeface="+mn-cs"/>
                      </a:rPr>
                      <m:t>𝑌</m:t>
                    </m:r>
                    <m:r>
                      <a:rPr lang="en-US" sz="3500" b="0" i="1" kern="1200" smtClean="0">
                        <a:solidFill>
                          <a:schemeClr val="bg1"/>
                        </a:solidFill>
                        <a:latin typeface="Cambria Math" panose="02040503050406030204" pitchFamily="18" charset="0"/>
                        <a:ea typeface="+mn-ea"/>
                        <a:cs typeface="+mn-cs"/>
                      </a:rPr>
                      <m:t>= </m:t>
                    </m:r>
                    <m:r>
                      <m:rPr>
                        <m:sty m:val="p"/>
                      </m:rPr>
                      <a:rPr lang="el-GR" sz="3500" b="0" i="1" kern="1200" smtClean="0">
                        <a:solidFill>
                          <a:schemeClr val="bg1"/>
                        </a:solidFill>
                        <a:latin typeface="Cambria Math" panose="02040503050406030204" pitchFamily="18" charset="0"/>
                        <a:ea typeface="+mn-ea"/>
                        <a:cs typeface="+mn-cs"/>
                      </a:rPr>
                      <m:t>β</m:t>
                    </m:r>
                    <m:r>
                      <a:rPr lang="en-US" sz="3500" b="0" i="1" kern="1200" baseline="-25000" smtClean="0">
                        <a:solidFill>
                          <a:schemeClr val="bg1"/>
                        </a:solidFill>
                        <a:latin typeface="Cambria Math" panose="02040503050406030204" pitchFamily="18" charset="0"/>
                        <a:ea typeface="+mn-ea"/>
                        <a:cs typeface="+mn-cs"/>
                      </a:rPr>
                      <m:t>0</m:t>
                    </m:r>
                  </m:oMath>
                </a14:m>
                <a:r>
                  <a:rPr lang="en-US" sz="3500" kern="1200" baseline="-25000">
                    <a:solidFill>
                      <a:schemeClr val="bg1"/>
                    </a:solidFill>
                    <a:ea typeface="+mn-ea"/>
                    <a:cs typeface="+mn-cs"/>
                  </a:rPr>
                  <a:t> </a:t>
                </a:r>
                <a:r>
                  <a:rPr lang="en-US" sz="3500" kern="1200">
                    <a:solidFill>
                      <a:schemeClr val="bg1"/>
                    </a:solidFill>
                    <a:ea typeface="+mn-ea"/>
                    <a:cs typeface="+mn-cs"/>
                  </a:rPr>
                  <a:t>+ </a:t>
                </a:r>
                <a:r>
                  <a:rPr lang="el-GR" sz="3500" kern="1200">
                    <a:solidFill>
                      <a:schemeClr val="bg1"/>
                    </a:solidFill>
                    <a:ea typeface="+mn-ea"/>
                    <a:cs typeface="+mn-cs"/>
                  </a:rPr>
                  <a:t>β</a:t>
                </a:r>
                <a:r>
                  <a:rPr lang="en-US" sz="3500" kern="1200" baseline="-25000">
                    <a:solidFill>
                      <a:schemeClr val="bg1"/>
                    </a:solidFill>
                    <a:ea typeface="+mn-ea"/>
                    <a:cs typeface="+mn-cs"/>
                  </a:rPr>
                  <a:t>1</a:t>
                </a:r>
                <a:r>
                  <a:rPr lang="en-US" sz="3500" kern="1200">
                    <a:solidFill>
                      <a:schemeClr val="bg1"/>
                    </a:solidFill>
                    <a:ea typeface="+mn-ea"/>
                    <a:cs typeface="+mn-cs"/>
                  </a:rPr>
                  <a:t>x + </a:t>
                </a:r>
                <a:r>
                  <a:rPr lang="el-GR" sz="3500" kern="1200">
                    <a:solidFill>
                      <a:schemeClr val="bg1"/>
                    </a:solidFill>
                    <a:ea typeface="+mn-ea"/>
                    <a:cs typeface="+mn-cs"/>
                  </a:rPr>
                  <a:t>β</a:t>
                </a:r>
                <a:r>
                  <a:rPr lang="en-US" sz="3500" kern="1200" baseline="-25000">
                    <a:solidFill>
                      <a:schemeClr val="bg1"/>
                    </a:solidFill>
                    <a:ea typeface="+mn-ea"/>
                    <a:cs typeface="+mn-cs"/>
                  </a:rPr>
                  <a:t>2</a:t>
                </a:r>
                <a:r>
                  <a:rPr lang="en-US" sz="3500" kern="1200">
                    <a:solidFill>
                      <a:schemeClr val="bg1"/>
                    </a:solidFill>
                    <a:ea typeface="+mn-ea"/>
                    <a:cs typeface="+mn-cs"/>
                  </a:rPr>
                  <a:t>x + </a:t>
                </a:r>
                <a:r>
                  <a:rPr lang="el-GR" sz="3500" kern="1200">
                    <a:solidFill>
                      <a:schemeClr val="bg1"/>
                    </a:solidFill>
                    <a:ea typeface="+mn-ea"/>
                    <a:cs typeface="+mn-cs"/>
                  </a:rPr>
                  <a:t>β</a:t>
                </a:r>
                <a:r>
                  <a:rPr lang="en-US" sz="3500" kern="1200" baseline="-25000">
                    <a:solidFill>
                      <a:schemeClr val="bg1"/>
                    </a:solidFill>
                    <a:ea typeface="+mn-ea"/>
                    <a:cs typeface="+mn-cs"/>
                  </a:rPr>
                  <a:t>3</a:t>
                </a:r>
                <a:r>
                  <a:rPr lang="en-US" sz="3500" kern="1200">
                    <a:solidFill>
                      <a:schemeClr val="bg1"/>
                    </a:solidFill>
                    <a:ea typeface="+mn-ea"/>
                    <a:cs typeface="+mn-cs"/>
                  </a:rPr>
                  <a:t>x</a:t>
                </a:r>
              </a:p>
            </p:txBody>
          </p:sp>
        </mc:Choice>
        <mc:Fallback xmlns="">
          <p:sp>
            <p:nvSpPr>
              <p:cNvPr id="4" name="Text Placeholder 3">
                <a:extLst>
                  <a:ext uri="{FF2B5EF4-FFF2-40B4-BE49-F238E27FC236}">
                    <a16:creationId xmlns:a16="http://schemas.microsoft.com/office/drawing/2014/main" id="{25B72083-961F-4764-1C64-59AEBAA168FE}"/>
                  </a:ext>
                </a:extLst>
              </p:cNvPr>
              <p:cNvSpPr>
                <a:spLocks noGrp="1" noRot="1" noChangeAspect="1" noMove="1" noResize="1" noEditPoints="1" noAdjustHandles="1" noChangeArrowheads="1" noChangeShapeType="1" noTextEdit="1"/>
              </p:cNvSpPr>
              <p:nvPr>
                <p:ph type="body" idx="1"/>
              </p:nvPr>
            </p:nvSpPr>
            <p:spPr>
              <a:xfrm>
                <a:off x="1467717" y="3592192"/>
                <a:ext cx="9147940" cy="1324303"/>
              </a:xfrm>
              <a:blipFill>
                <a:blip r:embed="rId2"/>
                <a:stretch>
                  <a:fillRect t="-10550"/>
                </a:stretch>
              </a:blipFill>
            </p:spPr>
            <p:txBody>
              <a:bodyPr/>
              <a:lstStyle/>
              <a:p>
                <a:r>
                  <a:rPr lang="en-US">
                    <a:noFill/>
                  </a:rPr>
                  <a:t> </a:t>
                </a:r>
              </a:p>
            </p:txBody>
          </p:sp>
        </mc:Fallback>
      </mc:AlternateContent>
      <p:sp>
        <p:nvSpPr>
          <p:cNvPr id="39"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a:p>
        </p:txBody>
      </p:sp>
      <p:sp>
        <p:nvSpPr>
          <p:cNvPr id="4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41"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4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a:p>
        </p:txBody>
      </p:sp>
      <p:sp>
        <p:nvSpPr>
          <p:cNvPr id="4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44"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a:p>
        </p:txBody>
      </p:sp>
      <p:cxnSp>
        <p:nvCxnSpPr>
          <p:cNvPr id="45" name="Straight Connector 4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825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12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CAC4AA-62D9-8425-85A1-58F07D08C134}"/>
              </a:ext>
            </a:extLst>
          </p:cNvPr>
          <p:cNvPicPr>
            <a:picLocks noChangeAspect="1"/>
          </p:cNvPicPr>
          <p:nvPr/>
        </p:nvPicPr>
        <p:blipFill>
          <a:blip r:embed="rId2"/>
          <a:stretch>
            <a:fillRect/>
          </a:stretch>
        </p:blipFill>
        <p:spPr>
          <a:xfrm>
            <a:off x="868807" y="1127677"/>
            <a:ext cx="5935759" cy="2214565"/>
          </a:xfrm>
          <a:prstGeom prst="rect">
            <a:avLst/>
          </a:prstGeom>
        </p:spPr>
      </p:pic>
      <p:pic>
        <p:nvPicPr>
          <p:cNvPr id="13" name="Picture 12">
            <a:extLst>
              <a:ext uri="{FF2B5EF4-FFF2-40B4-BE49-F238E27FC236}">
                <a16:creationId xmlns:a16="http://schemas.microsoft.com/office/drawing/2014/main" id="{13DAF360-0E5E-CD98-8DA9-B92453948266}"/>
              </a:ext>
            </a:extLst>
          </p:cNvPr>
          <p:cNvPicPr>
            <a:picLocks noChangeAspect="1"/>
          </p:cNvPicPr>
          <p:nvPr/>
        </p:nvPicPr>
        <p:blipFill>
          <a:blip r:embed="rId3"/>
          <a:stretch>
            <a:fillRect/>
          </a:stretch>
        </p:blipFill>
        <p:spPr>
          <a:xfrm>
            <a:off x="1950273" y="3416440"/>
            <a:ext cx="4003487" cy="3187560"/>
          </a:xfrm>
          <a:prstGeom prst="rect">
            <a:avLst/>
          </a:prstGeom>
        </p:spPr>
      </p:pic>
      <p:pic>
        <p:nvPicPr>
          <p:cNvPr id="15" name="Picture 14">
            <a:extLst>
              <a:ext uri="{FF2B5EF4-FFF2-40B4-BE49-F238E27FC236}">
                <a16:creationId xmlns:a16="http://schemas.microsoft.com/office/drawing/2014/main" id="{B5284A55-694A-0304-DCE3-2B334D78D1DD}"/>
              </a:ext>
            </a:extLst>
          </p:cNvPr>
          <p:cNvPicPr>
            <a:picLocks noChangeAspect="1"/>
          </p:cNvPicPr>
          <p:nvPr/>
        </p:nvPicPr>
        <p:blipFill>
          <a:blip r:embed="rId4"/>
          <a:stretch>
            <a:fillRect/>
          </a:stretch>
        </p:blipFill>
        <p:spPr>
          <a:xfrm>
            <a:off x="6925500" y="254000"/>
            <a:ext cx="5168659" cy="5283200"/>
          </a:xfrm>
          <a:prstGeom prst="rect">
            <a:avLst/>
          </a:prstGeom>
        </p:spPr>
      </p:pic>
      <p:pic>
        <p:nvPicPr>
          <p:cNvPr id="17" name="Picture 16">
            <a:extLst>
              <a:ext uri="{FF2B5EF4-FFF2-40B4-BE49-F238E27FC236}">
                <a16:creationId xmlns:a16="http://schemas.microsoft.com/office/drawing/2014/main" id="{CA078C2A-A38D-1ACE-2A9C-A95CECFDE3E2}"/>
              </a:ext>
            </a:extLst>
          </p:cNvPr>
          <p:cNvPicPr>
            <a:picLocks noChangeAspect="1"/>
          </p:cNvPicPr>
          <p:nvPr/>
        </p:nvPicPr>
        <p:blipFill>
          <a:blip r:embed="rId5"/>
          <a:stretch>
            <a:fillRect/>
          </a:stretch>
        </p:blipFill>
        <p:spPr>
          <a:xfrm>
            <a:off x="7018694" y="5727578"/>
            <a:ext cx="4982270" cy="876422"/>
          </a:xfrm>
          <a:prstGeom prst="rect">
            <a:avLst/>
          </a:prstGeom>
        </p:spPr>
      </p:pic>
      <p:sp>
        <p:nvSpPr>
          <p:cNvPr id="20" name="TextBox 19">
            <a:extLst>
              <a:ext uri="{FF2B5EF4-FFF2-40B4-BE49-F238E27FC236}">
                <a16:creationId xmlns:a16="http://schemas.microsoft.com/office/drawing/2014/main" id="{3DB06202-4053-9760-1064-D72FDFCB2420}"/>
              </a:ext>
            </a:extLst>
          </p:cNvPr>
          <p:cNvSpPr txBox="1"/>
          <p:nvPr/>
        </p:nvSpPr>
        <p:spPr>
          <a:xfrm>
            <a:off x="868807" y="331011"/>
            <a:ext cx="5849526" cy="446276"/>
          </a:xfrm>
          <a:prstGeom prst="rect">
            <a:avLst/>
          </a:prstGeom>
          <a:noFill/>
        </p:spPr>
        <p:txBody>
          <a:bodyPr wrap="square" rtlCol="0">
            <a:spAutoFit/>
          </a:bodyPr>
          <a:lstStyle/>
          <a:p>
            <a:r>
              <a:rPr lang="en-US" sz="2300"/>
              <a:t>First Linear Model with some Problems</a:t>
            </a: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2CEBC78E-842F-9AD1-C6C3-0054D7066FB4}"/>
                  </a:ext>
                </a:extLst>
              </p14:cNvPr>
              <p14:cNvContentPartPr/>
              <p14:nvPr/>
            </p14:nvContentPartPr>
            <p14:xfrm>
              <a:off x="5057822" y="3632281"/>
              <a:ext cx="825120" cy="344160"/>
            </p14:xfrm>
          </p:contentPart>
        </mc:Choice>
        <mc:Fallback>
          <p:pic>
            <p:nvPicPr>
              <p:cNvPr id="2" name="Ink 1">
                <a:extLst>
                  <a:ext uri="{FF2B5EF4-FFF2-40B4-BE49-F238E27FC236}">
                    <a16:creationId xmlns:a16="http://schemas.microsoft.com/office/drawing/2014/main" id="{2CEBC78E-842F-9AD1-C6C3-0054D7066FB4}"/>
                  </a:ext>
                </a:extLst>
              </p:cNvPr>
              <p:cNvPicPr/>
              <p:nvPr/>
            </p:nvPicPr>
            <p:blipFill>
              <a:blip r:embed="rId7"/>
              <a:stretch>
                <a:fillRect/>
              </a:stretch>
            </p:blipFill>
            <p:spPr>
              <a:xfrm>
                <a:off x="5051702" y="3626155"/>
                <a:ext cx="837360" cy="356413"/>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506F6F7B-33B9-19C5-316D-B6DE72EFBBDB}"/>
                  </a:ext>
                </a:extLst>
              </p14:cNvPr>
              <p14:cNvContentPartPr/>
              <p14:nvPr/>
            </p14:nvContentPartPr>
            <p14:xfrm>
              <a:off x="5075102" y="5200441"/>
              <a:ext cx="813960" cy="514080"/>
            </p14:xfrm>
          </p:contentPart>
        </mc:Choice>
        <mc:Fallback>
          <p:pic>
            <p:nvPicPr>
              <p:cNvPr id="3" name="Ink 2">
                <a:extLst>
                  <a:ext uri="{FF2B5EF4-FFF2-40B4-BE49-F238E27FC236}">
                    <a16:creationId xmlns:a16="http://schemas.microsoft.com/office/drawing/2014/main" id="{506F6F7B-33B9-19C5-316D-B6DE72EFBBDB}"/>
                  </a:ext>
                </a:extLst>
              </p:cNvPr>
              <p:cNvPicPr/>
              <p:nvPr/>
            </p:nvPicPr>
            <p:blipFill>
              <a:blip r:embed="rId9"/>
              <a:stretch>
                <a:fillRect/>
              </a:stretch>
            </p:blipFill>
            <p:spPr>
              <a:xfrm>
                <a:off x="5068982" y="5194317"/>
                <a:ext cx="826200" cy="526329"/>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E9DD4E79-9ED1-FB18-D0E7-7B6134F16738}"/>
                  </a:ext>
                </a:extLst>
              </p14:cNvPr>
              <p14:cNvContentPartPr/>
              <p14:nvPr/>
            </p14:nvContentPartPr>
            <p14:xfrm>
              <a:off x="11421733" y="897519"/>
              <a:ext cx="420480" cy="28800"/>
            </p14:xfrm>
          </p:contentPart>
        </mc:Choice>
        <mc:Fallback>
          <p:pic>
            <p:nvPicPr>
              <p:cNvPr id="5" name="Ink 4">
                <a:extLst>
                  <a:ext uri="{FF2B5EF4-FFF2-40B4-BE49-F238E27FC236}">
                    <a16:creationId xmlns:a16="http://schemas.microsoft.com/office/drawing/2014/main" id="{E9DD4E79-9ED1-FB18-D0E7-7B6134F16738}"/>
                  </a:ext>
                </a:extLst>
              </p:cNvPr>
              <p:cNvPicPr/>
              <p:nvPr/>
            </p:nvPicPr>
            <p:blipFill>
              <a:blip r:embed="rId11"/>
              <a:stretch>
                <a:fillRect/>
              </a:stretch>
            </p:blipFill>
            <p:spPr>
              <a:xfrm>
                <a:off x="11385733" y="825519"/>
                <a:ext cx="49212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48808BDB-1FE8-5249-5C98-00378D36D345}"/>
                  </a:ext>
                </a:extLst>
              </p14:cNvPr>
              <p14:cNvContentPartPr/>
              <p14:nvPr/>
            </p14:nvContentPartPr>
            <p14:xfrm>
              <a:off x="11421733" y="987519"/>
              <a:ext cx="429120" cy="51120"/>
            </p14:xfrm>
          </p:contentPart>
        </mc:Choice>
        <mc:Fallback>
          <p:pic>
            <p:nvPicPr>
              <p:cNvPr id="6" name="Ink 5">
                <a:extLst>
                  <a:ext uri="{FF2B5EF4-FFF2-40B4-BE49-F238E27FC236}">
                    <a16:creationId xmlns:a16="http://schemas.microsoft.com/office/drawing/2014/main" id="{48808BDB-1FE8-5249-5C98-00378D36D345}"/>
                  </a:ext>
                </a:extLst>
              </p:cNvPr>
              <p:cNvPicPr/>
              <p:nvPr/>
            </p:nvPicPr>
            <p:blipFill>
              <a:blip r:embed="rId13"/>
              <a:stretch>
                <a:fillRect/>
              </a:stretch>
            </p:blipFill>
            <p:spPr>
              <a:xfrm>
                <a:off x="11385733" y="915519"/>
                <a:ext cx="50076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41CF6FAF-BC0E-DAEB-E1D4-8C5CB96AEA39}"/>
                  </a:ext>
                </a:extLst>
              </p14:cNvPr>
              <p14:cNvContentPartPr/>
              <p14:nvPr/>
            </p14:nvContentPartPr>
            <p14:xfrm>
              <a:off x="11405173" y="1893999"/>
              <a:ext cx="461880" cy="49680"/>
            </p14:xfrm>
          </p:contentPart>
        </mc:Choice>
        <mc:Fallback>
          <p:pic>
            <p:nvPicPr>
              <p:cNvPr id="7" name="Ink 6">
                <a:extLst>
                  <a:ext uri="{FF2B5EF4-FFF2-40B4-BE49-F238E27FC236}">
                    <a16:creationId xmlns:a16="http://schemas.microsoft.com/office/drawing/2014/main" id="{41CF6FAF-BC0E-DAEB-E1D4-8C5CB96AEA39}"/>
                  </a:ext>
                </a:extLst>
              </p:cNvPr>
              <p:cNvPicPr/>
              <p:nvPr/>
            </p:nvPicPr>
            <p:blipFill>
              <a:blip r:embed="rId15"/>
              <a:stretch>
                <a:fillRect/>
              </a:stretch>
            </p:blipFill>
            <p:spPr>
              <a:xfrm>
                <a:off x="11369145" y="1821473"/>
                <a:ext cx="533576" cy="194368"/>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2E08F814-0539-3915-169C-86637EC39653}"/>
                  </a:ext>
                </a:extLst>
              </p14:cNvPr>
              <p14:cNvContentPartPr/>
              <p14:nvPr/>
            </p14:nvContentPartPr>
            <p14:xfrm>
              <a:off x="11413453" y="4415799"/>
              <a:ext cx="464040" cy="37440"/>
            </p14:xfrm>
          </p:contentPart>
        </mc:Choice>
        <mc:Fallback>
          <p:pic>
            <p:nvPicPr>
              <p:cNvPr id="8" name="Ink 7">
                <a:extLst>
                  <a:ext uri="{FF2B5EF4-FFF2-40B4-BE49-F238E27FC236}">
                    <a16:creationId xmlns:a16="http://schemas.microsoft.com/office/drawing/2014/main" id="{2E08F814-0539-3915-169C-86637EC39653}"/>
                  </a:ext>
                </a:extLst>
              </p:cNvPr>
              <p:cNvPicPr/>
              <p:nvPr/>
            </p:nvPicPr>
            <p:blipFill>
              <a:blip r:embed="rId17"/>
              <a:stretch>
                <a:fillRect/>
              </a:stretch>
            </p:blipFill>
            <p:spPr>
              <a:xfrm>
                <a:off x="11377453" y="4343799"/>
                <a:ext cx="53568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3736682A-91BB-577D-F4A3-AFF02B1C4DC0}"/>
                  </a:ext>
                </a:extLst>
              </p14:cNvPr>
              <p14:cNvContentPartPr/>
              <p14:nvPr/>
            </p14:nvContentPartPr>
            <p14:xfrm>
              <a:off x="11380693" y="4538919"/>
              <a:ext cx="511920" cy="69840"/>
            </p14:xfrm>
          </p:contentPart>
        </mc:Choice>
        <mc:Fallback>
          <p:pic>
            <p:nvPicPr>
              <p:cNvPr id="9" name="Ink 8">
                <a:extLst>
                  <a:ext uri="{FF2B5EF4-FFF2-40B4-BE49-F238E27FC236}">
                    <a16:creationId xmlns:a16="http://schemas.microsoft.com/office/drawing/2014/main" id="{3736682A-91BB-577D-F4A3-AFF02B1C4DC0}"/>
                  </a:ext>
                </a:extLst>
              </p:cNvPr>
              <p:cNvPicPr/>
              <p:nvPr/>
            </p:nvPicPr>
            <p:blipFill>
              <a:blip r:embed="rId19"/>
              <a:stretch>
                <a:fillRect/>
              </a:stretch>
            </p:blipFill>
            <p:spPr>
              <a:xfrm>
                <a:off x="11344693" y="4466919"/>
                <a:ext cx="58356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 name="Ink 9">
                <a:extLst>
                  <a:ext uri="{FF2B5EF4-FFF2-40B4-BE49-F238E27FC236}">
                    <a16:creationId xmlns:a16="http://schemas.microsoft.com/office/drawing/2014/main" id="{06BDCBF7-60EE-C4FB-3356-56FCD43A1A13}"/>
                  </a:ext>
                </a:extLst>
              </p14:cNvPr>
              <p14:cNvContentPartPr/>
              <p14:nvPr/>
            </p14:nvContentPartPr>
            <p14:xfrm>
              <a:off x="11372773" y="4644039"/>
              <a:ext cx="474480" cy="73800"/>
            </p14:xfrm>
          </p:contentPart>
        </mc:Choice>
        <mc:Fallback>
          <p:pic>
            <p:nvPicPr>
              <p:cNvPr id="10" name="Ink 9">
                <a:extLst>
                  <a:ext uri="{FF2B5EF4-FFF2-40B4-BE49-F238E27FC236}">
                    <a16:creationId xmlns:a16="http://schemas.microsoft.com/office/drawing/2014/main" id="{06BDCBF7-60EE-C4FB-3356-56FCD43A1A13}"/>
                  </a:ext>
                </a:extLst>
              </p:cNvPr>
              <p:cNvPicPr/>
              <p:nvPr/>
            </p:nvPicPr>
            <p:blipFill>
              <a:blip r:embed="rId21"/>
              <a:stretch>
                <a:fillRect/>
              </a:stretch>
            </p:blipFill>
            <p:spPr>
              <a:xfrm>
                <a:off x="11336773" y="4571686"/>
                <a:ext cx="546120" cy="218144"/>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1" name="Ink 10">
                <a:extLst>
                  <a:ext uri="{FF2B5EF4-FFF2-40B4-BE49-F238E27FC236}">
                    <a16:creationId xmlns:a16="http://schemas.microsoft.com/office/drawing/2014/main" id="{7BE23B60-1746-974E-AC90-629495177BB5}"/>
                  </a:ext>
                </a:extLst>
              </p14:cNvPr>
              <p14:cNvContentPartPr/>
              <p14:nvPr/>
            </p14:nvContentPartPr>
            <p14:xfrm>
              <a:off x="11437933" y="4701999"/>
              <a:ext cx="423000" cy="74520"/>
            </p14:xfrm>
          </p:contentPart>
        </mc:Choice>
        <mc:Fallback>
          <p:pic>
            <p:nvPicPr>
              <p:cNvPr id="11" name="Ink 10">
                <a:extLst>
                  <a:ext uri="{FF2B5EF4-FFF2-40B4-BE49-F238E27FC236}">
                    <a16:creationId xmlns:a16="http://schemas.microsoft.com/office/drawing/2014/main" id="{7BE23B60-1746-974E-AC90-629495177BB5}"/>
                  </a:ext>
                </a:extLst>
              </p:cNvPr>
              <p:cNvPicPr/>
              <p:nvPr/>
            </p:nvPicPr>
            <p:blipFill>
              <a:blip r:embed="rId23"/>
              <a:stretch>
                <a:fillRect/>
              </a:stretch>
            </p:blipFill>
            <p:spPr>
              <a:xfrm>
                <a:off x="11401933" y="4629999"/>
                <a:ext cx="49464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2" name="Ink 11">
                <a:extLst>
                  <a:ext uri="{FF2B5EF4-FFF2-40B4-BE49-F238E27FC236}">
                    <a16:creationId xmlns:a16="http://schemas.microsoft.com/office/drawing/2014/main" id="{B10403E6-735C-45B5-CD85-6B05FD9BEA19}"/>
                  </a:ext>
                </a:extLst>
              </p14:cNvPr>
              <p14:cNvContentPartPr/>
              <p14:nvPr/>
            </p14:nvContentPartPr>
            <p14:xfrm>
              <a:off x="11405173" y="4849599"/>
              <a:ext cx="442080" cy="40320"/>
            </p14:xfrm>
          </p:contentPart>
        </mc:Choice>
        <mc:Fallback>
          <p:pic>
            <p:nvPicPr>
              <p:cNvPr id="12" name="Ink 11">
                <a:extLst>
                  <a:ext uri="{FF2B5EF4-FFF2-40B4-BE49-F238E27FC236}">
                    <a16:creationId xmlns:a16="http://schemas.microsoft.com/office/drawing/2014/main" id="{B10403E6-735C-45B5-CD85-6B05FD9BEA19}"/>
                  </a:ext>
                </a:extLst>
              </p:cNvPr>
              <p:cNvPicPr/>
              <p:nvPr/>
            </p:nvPicPr>
            <p:blipFill>
              <a:blip r:embed="rId25"/>
              <a:stretch>
                <a:fillRect/>
              </a:stretch>
            </p:blipFill>
            <p:spPr>
              <a:xfrm>
                <a:off x="11369173" y="4777599"/>
                <a:ext cx="51372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049FD5BE-1B28-5C32-181A-9C6D8FAABD5D}"/>
                  </a:ext>
                </a:extLst>
              </p14:cNvPr>
              <p14:cNvContentPartPr/>
              <p14:nvPr/>
            </p14:nvContentPartPr>
            <p14:xfrm>
              <a:off x="11437933" y="4989639"/>
              <a:ext cx="447480" cy="40320"/>
            </p14:xfrm>
          </p:contentPart>
        </mc:Choice>
        <mc:Fallback>
          <p:pic>
            <p:nvPicPr>
              <p:cNvPr id="14" name="Ink 13">
                <a:extLst>
                  <a:ext uri="{FF2B5EF4-FFF2-40B4-BE49-F238E27FC236}">
                    <a16:creationId xmlns:a16="http://schemas.microsoft.com/office/drawing/2014/main" id="{049FD5BE-1B28-5C32-181A-9C6D8FAABD5D}"/>
                  </a:ext>
                </a:extLst>
              </p:cNvPr>
              <p:cNvPicPr/>
              <p:nvPr/>
            </p:nvPicPr>
            <p:blipFill>
              <a:blip r:embed="rId27"/>
              <a:stretch>
                <a:fillRect/>
              </a:stretch>
            </p:blipFill>
            <p:spPr>
              <a:xfrm>
                <a:off x="11401962" y="4917639"/>
                <a:ext cx="519062"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0AEA93D9-BCA5-CA6A-578F-0CE04BEDF717}"/>
                  </a:ext>
                </a:extLst>
              </p14:cNvPr>
              <p14:cNvContentPartPr/>
              <p14:nvPr/>
            </p14:nvContentPartPr>
            <p14:xfrm>
              <a:off x="11454133" y="5102679"/>
              <a:ext cx="399600" cy="11520"/>
            </p14:xfrm>
          </p:contentPart>
        </mc:Choice>
        <mc:Fallback>
          <p:pic>
            <p:nvPicPr>
              <p:cNvPr id="16" name="Ink 15">
                <a:extLst>
                  <a:ext uri="{FF2B5EF4-FFF2-40B4-BE49-F238E27FC236}">
                    <a16:creationId xmlns:a16="http://schemas.microsoft.com/office/drawing/2014/main" id="{0AEA93D9-BCA5-CA6A-578F-0CE04BEDF717}"/>
                  </a:ext>
                </a:extLst>
              </p:cNvPr>
              <p:cNvPicPr/>
              <p:nvPr/>
            </p:nvPicPr>
            <p:blipFill>
              <a:blip r:embed="rId29"/>
              <a:stretch>
                <a:fillRect/>
              </a:stretch>
            </p:blipFill>
            <p:spPr>
              <a:xfrm>
                <a:off x="11418133" y="5032861"/>
                <a:ext cx="471240" cy="150807"/>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FD067CF7-69BF-E5F5-3242-642E1DB9EFB3}"/>
                  </a:ext>
                </a:extLst>
              </p14:cNvPr>
              <p14:cNvContentPartPr/>
              <p14:nvPr/>
            </p14:nvContentPartPr>
            <p14:xfrm>
              <a:off x="11413453" y="5208519"/>
              <a:ext cx="449280" cy="18000"/>
            </p14:xfrm>
          </p:contentPart>
        </mc:Choice>
        <mc:Fallback>
          <p:pic>
            <p:nvPicPr>
              <p:cNvPr id="18" name="Ink 17">
                <a:extLst>
                  <a:ext uri="{FF2B5EF4-FFF2-40B4-BE49-F238E27FC236}">
                    <a16:creationId xmlns:a16="http://schemas.microsoft.com/office/drawing/2014/main" id="{FD067CF7-69BF-E5F5-3242-642E1DB9EFB3}"/>
                  </a:ext>
                </a:extLst>
              </p:cNvPr>
              <p:cNvPicPr/>
              <p:nvPr/>
            </p:nvPicPr>
            <p:blipFill>
              <a:blip r:embed="rId31"/>
              <a:stretch>
                <a:fillRect/>
              </a:stretch>
            </p:blipFill>
            <p:spPr>
              <a:xfrm>
                <a:off x="11377453" y="5136519"/>
                <a:ext cx="520920" cy="161640"/>
              </a:xfrm>
              <a:prstGeom prst="rect">
                <a:avLst/>
              </a:prstGeom>
            </p:spPr>
          </p:pic>
        </mc:Fallback>
      </mc:AlternateContent>
    </p:spTree>
    <p:extLst>
      <p:ext uri="{BB962C8B-B14F-4D97-AF65-F5344CB8AC3E}">
        <p14:creationId xmlns:p14="http://schemas.microsoft.com/office/powerpoint/2010/main" val="3572411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31000">
              <a:schemeClr val="accent1">
                <a:lumMod val="60000"/>
                <a:lumOff val="40000"/>
              </a:schemeClr>
            </a:gs>
            <a:gs pos="71000">
              <a:srgbClr val="D9EFD1"/>
            </a:gs>
            <a:gs pos="0">
              <a:schemeClr val="accent1">
                <a:lumMod val="5000"/>
                <a:lumOff val="95000"/>
              </a:schemeClr>
            </a:gs>
            <a:gs pos="100000">
              <a:schemeClr val="accent1">
                <a:lumMod val="60000"/>
                <a:lumOff val="40000"/>
              </a:schemeClr>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7C231B-1187-C548-EFE5-CDBC0B45BF2D}"/>
              </a:ext>
            </a:extLst>
          </p:cNvPr>
          <p:cNvPicPr>
            <a:picLocks noChangeAspect="1"/>
          </p:cNvPicPr>
          <p:nvPr/>
        </p:nvPicPr>
        <p:blipFill>
          <a:blip r:embed="rId2"/>
          <a:stretch>
            <a:fillRect/>
          </a:stretch>
        </p:blipFill>
        <p:spPr>
          <a:xfrm>
            <a:off x="918029" y="136394"/>
            <a:ext cx="5594532" cy="2214880"/>
          </a:xfrm>
          <a:prstGeom prst="rect">
            <a:avLst/>
          </a:prstGeom>
        </p:spPr>
      </p:pic>
      <p:sp>
        <p:nvSpPr>
          <p:cNvPr id="12" name="TextBox 11">
            <a:extLst>
              <a:ext uri="{FF2B5EF4-FFF2-40B4-BE49-F238E27FC236}">
                <a16:creationId xmlns:a16="http://schemas.microsoft.com/office/drawing/2014/main" id="{9E3714C0-4CEC-74BE-2D35-EB6041E7BD0C}"/>
              </a:ext>
            </a:extLst>
          </p:cNvPr>
          <p:cNvSpPr txBox="1"/>
          <p:nvPr/>
        </p:nvSpPr>
        <p:spPr>
          <a:xfrm>
            <a:off x="4525612" y="4328160"/>
            <a:ext cx="2078388" cy="1938992"/>
          </a:xfrm>
          <a:prstGeom prst="rect">
            <a:avLst/>
          </a:prstGeom>
          <a:noFill/>
        </p:spPr>
        <p:txBody>
          <a:bodyPr wrap="square" rtlCol="0">
            <a:spAutoFit/>
          </a:bodyPr>
          <a:lstStyle/>
          <a:p>
            <a:r>
              <a:rPr lang="en-US" sz="2400" b="1"/>
              <a:t>Second Model – Stepwise Forward Regression</a:t>
            </a:r>
          </a:p>
        </p:txBody>
      </p:sp>
      <p:pic>
        <p:nvPicPr>
          <p:cNvPr id="21" name="Picture 20">
            <a:extLst>
              <a:ext uri="{FF2B5EF4-FFF2-40B4-BE49-F238E27FC236}">
                <a16:creationId xmlns:a16="http://schemas.microsoft.com/office/drawing/2014/main" id="{F7E639F0-F258-D592-95C4-84BA5015C190}"/>
              </a:ext>
            </a:extLst>
          </p:cNvPr>
          <p:cNvPicPr>
            <a:picLocks noChangeAspect="1"/>
          </p:cNvPicPr>
          <p:nvPr/>
        </p:nvPicPr>
        <p:blipFill>
          <a:blip r:embed="rId3"/>
          <a:stretch>
            <a:fillRect/>
          </a:stretch>
        </p:blipFill>
        <p:spPr>
          <a:xfrm>
            <a:off x="918029" y="2408741"/>
            <a:ext cx="4165106" cy="1599528"/>
          </a:xfrm>
          <a:prstGeom prst="rect">
            <a:avLst/>
          </a:prstGeom>
        </p:spPr>
      </p:pic>
      <p:pic>
        <p:nvPicPr>
          <p:cNvPr id="23" name="Picture 22">
            <a:extLst>
              <a:ext uri="{FF2B5EF4-FFF2-40B4-BE49-F238E27FC236}">
                <a16:creationId xmlns:a16="http://schemas.microsoft.com/office/drawing/2014/main" id="{59AE36B6-A823-ABB8-712B-4F17920C066A}"/>
              </a:ext>
            </a:extLst>
          </p:cNvPr>
          <p:cNvPicPr>
            <a:picLocks noChangeAspect="1"/>
          </p:cNvPicPr>
          <p:nvPr/>
        </p:nvPicPr>
        <p:blipFill>
          <a:blip r:embed="rId4"/>
          <a:stretch>
            <a:fillRect/>
          </a:stretch>
        </p:blipFill>
        <p:spPr>
          <a:xfrm>
            <a:off x="6946101" y="136394"/>
            <a:ext cx="5117374" cy="6136602"/>
          </a:xfrm>
          <a:prstGeom prst="rect">
            <a:avLst/>
          </a:prstGeom>
        </p:spPr>
      </p:pic>
      <p:pic>
        <p:nvPicPr>
          <p:cNvPr id="25" name="Picture 24">
            <a:extLst>
              <a:ext uri="{FF2B5EF4-FFF2-40B4-BE49-F238E27FC236}">
                <a16:creationId xmlns:a16="http://schemas.microsoft.com/office/drawing/2014/main" id="{FFFA8CED-2E91-D610-2CF9-F1B65FACA363}"/>
              </a:ext>
            </a:extLst>
          </p:cNvPr>
          <p:cNvPicPr>
            <a:picLocks noChangeAspect="1"/>
          </p:cNvPicPr>
          <p:nvPr/>
        </p:nvPicPr>
        <p:blipFill>
          <a:blip r:embed="rId5"/>
          <a:stretch>
            <a:fillRect/>
          </a:stretch>
        </p:blipFill>
        <p:spPr>
          <a:xfrm>
            <a:off x="956137" y="4120918"/>
            <a:ext cx="3372321" cy="2600688"/>
          </a:xfrm>
          <a:prstGeom prst="rect">
            <a:avLst/>
          </a:prstGeom>
        </p:spPr>
      </p:pic>
      <p:pic>
        <p:nvPicPr>
          <p:cNvPr id="27" name="Picture 26">
            <a:extLst>
              <a:ext uri="{FF2B5EF4-FFF2-40B4-BE49-F238E27FC236}">
                <a16:creationId xmlns:a16="http://schemas.microsoft.com/office/drawing/2014/main" id="{36305F63-6A8F-00B6-4D73-C8659A900D98}"/>
              </a:ext>
            </a:extLst>
          </p:cNvPr>
          <p:cNvPicPr>
            <a:picLocks noChangeAspect="1"/>
          </p:cNvPicPr>
          <p:nvPr/>
        </p:nvPicPr>
        <p:blipFill>
          <a:blip r:embed="rId6"/>
          <a:stretch>
            <a:fillRect/>
          </a:stretch>
        </p:blipFill>
        <p:spPr>
          <a:xfrm>
            <a:off x="6946101" y="6325838"/>
            <a:ext cx="3573738" cy="463899"/>
          </a:xfrm>
          <a:prstGeom prst="rect">
            <a:avLst/>
          </a:prstGeom>
        </p:spPr>
      </p:pic>
      <mc:AlternateContent xmlns:mc="http://schemas.openxmlformats.org/markup-compatibility/2006">
        <mc:Choice xmlns:p14="http://schemas.microsoft.com/office/powerpoint/2010/main" Requires="p14">
          <p:contentPart p14:bwMode="auto" r:id="rId7">
            <p14:nvContentPartPr>
              <p14:cNvPr id="28" name="Ink 27">
                <a:extLst>
                  <a:ext uri="{FF2B5EF4-FFF2-40B4-BE49-F238E27FC236}">
                    <a16:creationId xmlns:a16="http://schemas.microsoft.com/office/drawing/2014/main" id="{1EB05BD8-2F74-E91C-C236-283B73CA3779}"/>
                  </a:ext>
                </a:extLst>
              </p14:cNvPr>
              <p14:cNvContentPartPr/>
              <p14:nvPr/>
            </p14:nvContentPartPr>
            <p14:xfrm>
              <a:off x="11372773" y="1346799"/>
              <a:ext cx="448200" cy="9360"/>
            </p14:xfrm>
          </p:contentPart>
        </mc:Choice>
        <mc:Fallback>
          <p:pic>
            <p:nvPicPr>
              <p:cNvPr id="28" name="Ink 27">
                <a:extLst>
                  <a:ext uri="{FF2B5EF4-FFF2-40B4-BE49-F238E27FC236}">
                    <a16:creationId xmlns:a16="http://schemas.microsoft.com/office/drawing/2014/main" id="{1EB05BD8-2F74-E91C-C236-283B73CA3779}"/>
                  </a:ext>
                </a:extLst>
              </p:cNvPr>
              <p:cNvPicPr/>
              <p:nvPr/>
            </p:nvPicPr>
            <p:blipFill>
              <a:blip r:embed="rId8"/>
              <a:stretch>
                <a:fillRect/>
              </a:stretch>
            </p:blipFill>
            <p:spPr>
              <a:xfrm>
                <a:off x="11336773" y="1271919"/>
                <a:ext cx="519840" cy="158746"/>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9" name="Ink 28">
                <a:extLst>
                  <a:ext uri="{FF2B5EF4-FFF2-40B4-BE49-F238E27FC236}">
                    <a16:creationId xmlns:a16="http://schemas.microsoft.com/office/drawing/2014/main" id="{5D520579-589A-30F2-B243-20B9F46D0E6C}"/>
                  </a:ext>
                </a:extLst>
              </p14:cNvPr>
              <p14:cNvContentPartPr/>
              <p14:nvPr/>
            </p14:nvContentPartPr>
            <p14:xfrm>
              <a:off x="11372773" y="1444719"/>
              <a:ext cx="450720" cy="24480"/>
            </p14:xfrm>
          </p:contentPart>
        </mc:Choice>
        <mc:Fallback>
          <p:pic>
            <p:nvPicPr>
              <p:cNvPr id="29" name="Ink 28">
                <a:extLst>
                  <a:ext uri="{FF2B5EF4-FFF2-40B4-BE49-F238E27FC236}">
                    <a16:creationId xmlns:a16="http://schemas.microsoft.com/office/drawing/2014/main" id="{5D520579-589A-30F2-B243-20B9F46D0E6C}"/>
                  </a:ext>
                </a:extLst>
              </p:cNvPr>
              <p:cNvPicPr/>
              <p:nvPr/>
            </p:nvPicPr>
            <p:blipFill>
              <a:blip r:embed="rId10"/>
              <a:stretch>
                <a:fillRect/>
              </a:stretch>
            </p:blipFill>
            <p:spPr>
              <a:xfrm>
                <a:off x="11336773" y="1372719"/>
                <a:ext cx="52236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0" name="Ink 29">
                <a:extLst>
                  <a:ext uri="{FF2B5EF4-FFF2-40B4-BE49-F238E27FC236}">
                    <a16:creationId xmlns:a16="http://schemas.microsoft.com/office/drawing/2014/main" id="{7155CE59-8F68-D089-ACBE-1E4FFF5DCB78}"/>
                  </a:ext>
                </a:extLst>
              </p14:cNvPr>
              <p14:cNvContentPartPr/>
              <p14:nvPr/>
            </p14:nvContentPartPr>
            <p14:xfrm>
              <a:off x="11348293" y="2310159"/>
              <a:ext cx="456840" cy="34560"/>
            </p14:xfrm>
          </p:contentPart>
        </mc:Choice>
        <mc:Fallback>
          <p:pic>
            <p:nvPicPr>
              <p:cNvPr id="30" name="Ink 29">
                <a:extLst>
                  <a:ext uri="{FF2B5EF4-FFF2-40B4-BE49-F238E27FC236}">
                    <a16:creationId xmlns:a16="http://schemas.microsoft.com/office/drawing/2014/main" id="{7155CE59-8F68-D089-ACBE-1E4FFF5DCB78}"/>
                  </a:ext>
                </a:extLst>
              </p:cNvPr>
              <p:cNvPicPr/>
              <p:nvPr/>
            </p:nvPicPr>
            <p:blipFill>
              <a:blip r:embed="rId12"/>
              <a:stretch>
                <a:fillRect/>
              </a:stretch>
            </p:blipFill>
            <p:spPr>
              <a:xfrm>
                <a:off x="11312293" y="2238159"/>
                <a:ext cx="5284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1" name="Ink 30">
                <a:extLst>
                  <a:ext uri="{FF2B5EF4-FFF2-40B4-BE49-F238E27FC236}">
                    <a16:creationId xmlns:a16="http://schemas.microsoft.com/office/drawing/2014/main" id="{9277A68E-D4A8-71BA-80BC-07C86D8C0337}"/>
                  </a:ext>
                </a:extLst>
              </p14:cNvPr>
              <p14:cNvContentPartPr/>
              <p14:nvPr/>
            </p14:nvContentPartPr>
            <p14:xfrm>
              <a:off x="11356573" y="2530839"/>
              <a:ext cx="494640" cy="52200"/>
            </p14:xfrm>
          </p:contentPart>
        </mc:Choice>
        <mc:Fallback>
          <p:pic>
            <p:nvPicPr>
              <p:cNvPr id="31" name="Ink 30">
                <a:extLst>
                  <a:ext uri="{FF2B5EF4-FFF2-40B4-BE49-F238E27FC236}">
                    <a16:creationId xmlns:a16="http://schemas.microsoft.com/office/drawing/2014/main" id="{9277A68E-D4A8-71BA-80BC-07C86D8C0337}"/>
                  </a:ext>
                </a:extLst>
              </p:cNvPr>
              <p:cNvPicPr/>
              <p:nvPr/>
            </p:nvPicPr>
            <p:blipFill>
              <a:blip r:embed="rId14"/>
              <a:stretch>
                <a:fillRect/>
              </a:stretch>
            </p:blipFill>
            <p:spPr>
              <a:xfrm>
                <a:off x="11320573" y="2458839"/>
                <a:ext cx="56628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2" name="Ink 31">
                <a:extLst>
                  <a:ext uri="{FF2B5EF4-FFF2-40B4-BE49-F238E27FC236}">
                    <a16:creationId xmlns:a16="http://schemas.microsoft.com/office/drawing/2014/main" id="{239EBBFF-E1BD-7295-1515-1BBB8D93180C}"/>
                  </a:ext>
                </a:extLst>
              </p14:cNvPr>
              <p14:cNvContentPartPr/>
              <p14:nvPr/>
            </p14:nvContentPartPr>
            <p14:xfrm>
              <a:off x="11340013" y="4718559"/>
              <a:ext cx="496080" cy="64440"/>
            </p14:xfrm>
          </p:contentPart>
        </mc:Choice>
        <mc:Fallback>
          <p:pic>
            <p:nvPicPr>
              <p:cNvPr id="32" name="Ink 31">
                <a:extLst>
                  <a:ext uri="{FF2B5EF4-FFF2-40B4-BE49-F238E27FC236}">
                    <a16:creationId xmlns:a16="http://schemas.microsoft.com/office/drawing/2014/main" id="{239EBBFF-E1BD-7295-1515-1BBB8D93180C}"/>
                  </a:ext>
                </a:extLst>
              </p:cNvPr>
              <p:cNvPicPr/>
              <p:nvPr/>
            </p:nvPicPr>
            <p:blipFill>
              <a:blip r:embed="rId16"/>
              <a:stretch>
                <a:fillRect/>
              </a:stretch>
            </p:blipFill>
            <p:spPr>
              <a:xfrm>
                <a:off x="11303987" y="4646559"/>
                <a:ext cx="567772"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3" name="Ink 32">
                <a:extLst>
                  <a:ext uri="{FF2B5EF4-FFF2-40B4-BE49-F238E27FC236}">
                    <a16:creationId xmlns:a16="http://schemas.microsoft.com/office/drawing/2014/main" id="{AA7A7BD4-2DFB-8480-1A78-222B0E13617E}"/>
                  </a:ext>
                </a:extLst>
              </p14:cNvPr>
              <p14:cNvContentPartPr/>
              <p14:nvPr/>
            </p14:nvContentPartPr>
            <p14:xfrm>
              <a:off x="11380693" y="4835199"/>
              <a:ext cx="461160" cy="50760"/>
            </p14:xfrm>
          </p:contentPart>
        </mc:Choice>
        <mc:Fallback>
          <p:pic>
            <p:nvPicPr>
              <p:cNvPr id="33" name="Ink 32">
                <a:extLst>
                  <a:ext uri="{FF2B5EF4-FFF2-40B4-BE49-F238E27FC236}">
                    <a16:creationId xmlns:a16="http://schemas.microsoft.com/office/drawing/2014/main" id="{AA7A7BD4-2DFB-8480-1A78-222B0E13617E}"/>
                  </a:ext>
                </a:extLst>
              </p:cNvPr>
              <p:cNvPicPr/>
              <p:nvPr/>
            </p:nvPicPr>
            <p:blipFill>
              <a:blip r:embed="rId18"/>
              <a:stretch>
                <a:fillRect/>
              </a:stretch>
            </p:blipFill>
            <p:spPr>
              <a:xfrm>
                <a:off x="11344693" y="4763199"/>
                <a:ext cx="53280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4" name="Ink 33">
                <a:extLst>
                  <a:ext uri="{FF2B5EF4-FFF2-40B4-BE49-F238E27FC236}">
                    <a16:creationId xmlns:a16="http://schemas.microsoft.com/office/drawing/2014/main" id="{AB500696-3FE2-6A6D-9430-C457D1F2E56E}"/>
                  </a:ext>
                </a:extLst>
              </p14:cNvPr>
              <p14:cNvContentPartPr/>
              <p14:nvPr/>
            </p14:nvContentPartPr>
            <p14:xfrm>
              <a:off x="11348293" y="4925199"/>
              <a:ext cx="432360" cy="6840"/>
            </p14:xfrm>
          </p:contentPart>
        </mc:Choice>
        <mc:Fallback>
          <p:pic>
            <p:nvPicPr>
              <p:cNvPr id="34" name="Ink 33">
                <a:extLst>
                  <a:ext uri="{FF2B5EF4-FFF2-40B4-BE49-F238E27FC236}">
                    <a16:creationId xmlns:a16="http://schemas.microsoft.com/office/drawing/2014/main" id="{AB500696-3FE2-6A6D-9430-C457D1F2E56E}"/>
                  </a:ext>
                </a:extLst>
              </p:cNvPr>
              <p:cNvPicPr/>
              <p:nvPr/>
            </p:nvPicPr>
            <p:blipFill>
              <a:blip r:embed="rId20"/>
              <a:stretch>
                <a:fillRect/>
              </a:stretch>
            </p:blipFill>
            <p:spPr>
              <a:xfrm>
                <a:off x="11312293" y="4853199"/>
                <a:ext cx="5040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5" name="Ink 34">
                <a:extLst>
                  <a:ext uri="{FF2B5EF4-FFF2-40B4-BE49-F238E27FC236}">
                    <a16:creationId xmlns:a16="http://schemas.microsoft.com/office/drawing/2014/main" id="{56C89BB2-AFE0-68A0-A89D-B31B8FCA5B8C}"/>
                  </a:ext>
                </a:extLst>
              </p14:cNvPr>
              <p14:cNvContentPartPr/>
              <p14:nvPr/>
            </p14:nvContentPartPr>
            <p14:xfrm>
              <a:off x="11331733" y="5184039"/>
              <a:ext cx="474840" cy="360"/>
            </p14:xfrm>
          </p:contentPart>
        </mc:Choice>
        <mc:Fallback>
          <p:pic>
            <p:nvPicPr>
              <p:cNvPr id="35" name="Ink 34">
                <a:extLst>
                  <a:ext uri="{FF2B5EF4-FFF2-40B4-BE49-F238E27FC236}">
                    <a16:creationId xmlns:a16="http://schemas.microsoft.com/office/drawing/2014/main" id="{56C89BB2-AFE0-68A0-A89D-B31B8FCA5B8C}"/>
                  </a:ext>
                </a:extLst>
              </p:cNvPr>
              <p:cNvPicPr/>
              <p:nvPr/>
            </p:nvPicPr>
            <p:blipFill>
              <a:blip r:embed="rId22"/>
              <a:stretch>
                <a:fillRect/>
              </a:stretch>
            </p:blipFill>
            <p:spPr>
              <a:xfrm>
                <a:off x="11295733" y="5112039"/>
                <a:ext cx="5464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6" name="Ink 35">
                <a:extLst>
                  <a:ext uri="{FF2B5EF4-FFF2-40B4-BE49-F238E27FC236}">
                    <a16:creationId xmlns:a16="http://schemas.microsoft.com/office/drawing/2014/main" id="{3F5AC7E4-E09F-F37B-1214-ED43CF7125CD}"/>
                  </a:ext>
                </a:extLst>
              </p14:cNvPr>
              <p14:cNvContentPartPr/>
              <p14:nvPr/>
            </p14:nvContentPartPr>
            <p14:xfrm>
              <a:off x="11323813" y="5265759"/>
              <a:ext cx="484200" cy="83520"/>
            </p14:xfrm>
          </p:contentPart>
        </mc:Choice>
        <mc:Fallback>
          <p:pic>
            <p:nvPicPr>
              <p:cNvPr id="36" name="Ink 35">
                <a:extLst>
                  <a:ext uri="{FF2B5EF4-FFF2-40B4-BE49-F238E27FC236}">
                    <a16:creationId xmlns:a16="http://schemas.microsoft.com/office/drawing/2014/main" id="{3F5AC7E4-E09F-F37B-1214-ED43CF7125CD}"/>
                  </a:ext>
                </a:extLst>
              </p:cNvPr>
              <p:cNvPicPr/>
              <p:nvPr/>
            </p:nvPicPr>
            <p:blipFill>
              <a:blip r:embed="rId24"/>
              <a:stretch>
                <a:fillRect/>
              </a:stretch>
            </p:blipFill>
            <p:spPr>
              <a:xfrm>
                <a:off x="11287813" y="5193447"/>
                <a:ext cx="555840" cy="227782"/>
              </a:xfrm>
              <a:prstGeom prst="rect">
                <a:avLst/>
              </a:prstGeom>
            </p:spPr>
          </p:pic>
        </mc:Fallback>
      </mc:AlternateContent>
    </p:spTree>
    <p:extLst>
      <p:ext uri="{BB962C8B-B14F-4D97-AF65-F5344CB8AC3E}">
        <p14:creationId xmlns:p14="http://schemas.microsoft.com/office/powerpoint/2010/main" val="1771169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31000">
              <a:schemeClr val="accent1">
                <a:lumMod val="60000"/>
                <a:lumOff val="40000"/>
              </a:schemeClr>
            </a:gs>
            <a:gs pos="71000">
              <a:srgbClr val="D9EFD1"/>
            </a:gs>
            <a:gs pos="0">
              <a:schemeClr val="accent1">
                <a:lumMod val="5000"/>
                <a:lumOff val="95000"/>
              </a:schemeClr>
            </a:gs>
            <a:gs pos="100000">
              <a:schemeClr val="accent1">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6EE6842-6CA9-1816-7722-76E2DF1421D4}"/>
              </a:ext>
            </a:extLst>
          </p:cNvPr>
          <p:cNvSpPr txBox="1"/>
          <p:nvPr/>
        </p:nvSpPr>
        <p:spPr>
          <a:xfrm>
            <a:off x="4158114" y="3428999"/>
            <a:ext cx="2079057" cy="2015936"/>
          </a:xfrm>
          <a:prstGeom prst="rect">
            <a:avLst/>
          </a:prstGeom>
          <a:noFill/>
        </p:spPr>
        <p:txBody>
          <a:bodyPr wrap="square" rtlCol="0">
            <a:spAutoFit/>
          </a:bodyPr>
          <a:lstStyle/>
          <a:p>
            <a:r>
              <a:rPr lang="en-US" sz="2400" b="1"/>
              <a:t>Third </a:t>
            </a:r>
          </a:p>
          <a:p>
            <a:r>
              <a:rPr lang="en-US" sz="2400" b="1"/>
              <a:t>Model -Stepwise Regression Backwards</a:t>
            </a:r>
          </a:p>
        </p:txBody>
      </p:sp>
      <p:pic>
        <p:nvPicPr>
          <p:cNvPr id="12" name="Picture 11">
            <a:extLst>
              <a:ext uri="{FF2B5EF4-FFF2-40B4-BE49-F238E27FC236}">
                <a16:creationId xmlns:a16="http://schemas.microsoft.com/office/drawing/2014/main" id="{BF15FA47-C850-2A9C-9191-BEA5C6C22857}"/>
              </a:ext>
            </a:extLst>
          </p:cNvPr>
          <p:cNvPicPr>
            <a:picLocks noChangeAspect="1"/>
          </p:cNvPicPr>
          <p:nvPr/>
        </p:nvPicPr>
        <p:blipFill>
          <a:blip r:embed="rId2"/>
          <a:stretch>
            <a:fillRect/>
          </a:stretch>
        </p:blipFill>
        <p:spPr>
          <a:xfrm>
            <a:off x="805687" y="141766"/>
            <a:ext cx="4704373" cy="3046874"/>
          </a:xfrm>
          <a:prstGeom prst="rect">
            <a:avLst/>
          </a:prstGeom>
        </p:spPr>
      </p:pic>
      <p:pic>
        <p:nvPicPr>
          <p:cNvPr id="14" name="Picture 13">
            <a:extLst>
              <a:ext uri="{FF2B5EF4-FFF2-40B4-BE49-F238E27FC236}">
                <a16:creationId xmlns:a16="http://schemas.microsoft.com/office/drawing/2014/main" id="{AF4FCD7F-F511-B6C2-70E5-56971BFABC5F}"/>
              </a:ext>
            </a:extLst>
          </p:cNvPr>
          <p:cNvPicPr>
            <a:picLocks noChangeAspect="1"/>
          </p:cNvPicPr>
          <p:nvPr/>
        </p:nvPicPr>
        <p:blipFill>
          <a:blip r:embed="rId3"/>
          <a:stretch>
            <a:fillRect/>
          </a:stretch>
        </p:blipFill>
        <p:spPr>
          <a:xfrm>
            <a:off x="6406187" y="68346"/>
            <a:ext cx="5660455" cy="6721306"/>
          </a:xfrm>
          <a:prstGeom prst="rect">
            <a:avLst/>
          </a:prstGeom>
        </p:spPr>
      </p:pic>
      <p:pic>
        <p:nvPicPr>
          <p:cNvPr id="16" name="Picture 15">
            <a:extLst>
              <a:ext uri="{FF2B5EF4-FFF2-40B4-BE49-F238E27FC236}">
                <a16:creationId xmlns:a16="http://schemas.microsoft.com/office/drawing/2014/main" id="{2241801C-8A80-E512-8E48-3824F6E90032}"/>
              </a:ext>
            </a:extLst>
          </p:cNvPr>
          <p:cNvPicPr>
            <a:picLocks noChangeAspect="1"/>
          </p:cNvPicPr>
          <p:nvPr/>
        </p:nvPicPr>
        <p:blipFill>
          <a:blip r:embed="rId4"/>
          <a:stretch>
            <a:fillRect/>
          </a:stretch>
        </p:blipFill>
        <p:spPr>
          <a:xfrm>
            <a:off x="806839" y="3365935"/>
            <a:ext cx="3182259" cy="2472094"/>
          </a:xfrm>
          <a:prstGeom prst="rect">
            <a:avLst/>
          </a:prstGeom>
        </p:spPr>
      </p:pic>
      <p:pic>
        <p:nvPicPr>
          <p:cNvPr id="18" name="Picture 17">
            <a:extLst>
              <a:ext uri="{FF2B5EF4-FFF2-40B4-BE49-F238E27FC236}">
                <a16:creationId xmlns:a16="http://schemas.microsoft.com/office/drawing/2014/main" id="{98A662BD-1975-466C-9094-B898437051A5}"/>
              </a:ext>
            </a:extLst>
          </p:cNvPr>
          <p:cNvPicPr>
            <a:picLocks noChangeAspect="1"/>
          </p:cNvPicPr>
          <p:nvPr/>
        </p:nvPicPr>
        <p:blipFill>
          <a:blip r:embed="rId5"/>
          <a:stretch>
            <a:fillRect/>
          </a:stretch>
        </p:blipFill>
        <p:spPr>
          <a:xfrm>
            <a:off x="1244215" y="6015324"/>
            <a:ext cx="3953427" cy="495369"/>
          </a:xfrm>
          <a:prstGeom prst="rect">
            <a:avLst/>
          </a:prstGeom>
        </p:spPr>
      </p:pic>
    </p:spTree>
    <p:extLst>
      <p:ext uri="{BB962C8B-B14F-4D97-AF65-F5344CB8AC3E}">
        <p14:creationId xmlns:p14="http://schemas.microsoft.com/office/powerpoint/2010/main" val="1752331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31000">
              <a:schemeClr val="accent1">
                <a:lumMod val="60000"/>
                <a:lumOff val="40000"/>
              </a:schemeClr>
            </a:gs>
            <a:gs pos="71000">
              <a:srgbClr val="D9EFD1"/>
            </a:gs>
            <a:gs pos="0">
              <a:schemeClr val="accent1">
                <a:lumMod val="5000"/>
                <a:lumOff val="95000"/>
              </a:schemeClr>
            </a:gs>
            <a:gs pos="100000">
              <a:schemeClr val="accent1">
                <a:lumMod val="60000"/>
                <a:lumOff val="40000"/>
              </a:schemeClr>
            </a:gs>
          </a:gsLst>
          <a:lin ang="5400000" scaled="1"/>
        </a:gra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A0BD302-D28C-6E00-ED2A-F84F0F32F4E5}"/>
              </a:ext>
            </a:extLst>
          </p:cNvPr>
          <p:cNvSpPr txBox="1"/>
          <p:nvPr/>
        </p:nvSpPr>
        <p:spPr>
          <a:xfrm>
            <a:off x="4376057" y="3976007"/>
            <a:ext cx="1975757" cy="1938992"/>
          </a:xfrm>
          <a:prstGeom prst="rect">
            <a:avLst/>
          </a:prstGeom>
          <a:noFill/>
        </p:spPr>
        <p:txBody>
          <a:bodyPr wrap="square" rtlCol="0">
            <a:spAutoFit/>
          </a:bodyPr>
          <a:lstStyle/>
          <a:p>
            <a:r>
              <a:rPr lang="en-US" sz="2400" b="1"/>
              <a:t>Fourth </a:t>
            </a:r>
          </a:p>
          <a:p>
            <a:r>
              <a:rPr lang="en-US" sz="2400" b="1"/>
              <a:t>Model – </a:t>
            </a:r>
          </a:p>
          <a:p>
            <a:r>
              <a:rPr lang="en-US" sz="2400" b="1"/>
              <a:t>Stepwise Regression Backwards</a:t>
            </a:r>
          </a:p>
        </p:txBody>
      </p:sp>
      <p:pic>
        <p:nvPicPr>
          <p:cNvPr id="18" name="Picture 17">
            <a:extLst>
              <a:ext uri="{FF2B5EF4-FFF2-40B4-BE49-F238E27FC236}">
                <a16:creationId xmlns:a16="http://schemas.microsoft.com/office/drawing/2014/main" id="{85CFA775-3534-23F5-4A2B-6833C68A2E5F}"/>
              </a:ext>
            </a:extLst>
          </p:cNvPr>
          <p:cNvPicPr>
            <a:picLocks noChangeAspect="1"/>
          </p:cNvPicPr>
          <p:nvPr/>
        </p:nvPicPr>
        <p:blipFill>
          <a:blip r:embed="rId2"/>
          <a:stretch>
            <a:fillRect/>
          </a:stretch>
        </p:blipFill>
        <p:spPr>
          <a:xfrm>
            <a:off x="854513" y="123389"/>
            <a:ext cx="4690698" cy="3556773"/>
          </a:xfrm>
          <a:prstGeom prst="rect">
            <a:avLst/>
          </a:prstGeom>
        </p:spPr>
      </p:pic>
      <p:pic>
        <p:nvPicPr>
          <p:cNvPr id="20" name="Picture 19">
            <a:extLst>
              <a:ext uri="{FF2B5EF4-FFF2-40B4-BE49-F238E27FC236}">
                <a16:creationId xmlns:a16="http://schemas.microsoft.com/office/drawing/2014/main" id="{21EDE26B-A599-87F9-604D-A15E68A219B1}"/>
              </a:ext>
            </a:extLst>
          </p:cNvPr>
          <p:cNvPicPr>
            <a:picLocks noChangeAspect="1"/>
          </p:cNvPicPr>
          <p:nvPr/>
        </p:nvPicPr>
        <p:blipFill>
          <a:blip r:embed="rId3"/>
          <a:stretch>
            <a:fillRect/>
          </a:stretch>
        </p:blipFill>
        <p:spPr>
          <a:xfrm>
            <a:off x="6478450" y="79462"/>
            <a:ext cx="5619823" cy="6699075"/>
          </a:xfrm>
          <a:prstGeom prst="rect">
            <a:avLst/>
          </a:prstGeom>
        </p:spPr>
      </p:pic>
      <p:pic>
        <p:nvPicPr>
          <p:cNvPr id="22" name="Picture 21">
            <a:extLst>
              <a:ext uri="{FF2B5EF4-FFF2-40B4-BE49-F238E27FC236}">
                <a16:creationId xmlns:a16="http://schemas.microsoft.com/office/drawing/2014/main" id="{DCAFB1A6-CC5E-4785-2428-C71D15DD0C4B}"/>
              </a:ext>
            </a:extLst>
          </p:cNvPr>
          <p:cNvPicPr>
            <a:picLocks noChangeAspect="1"/>
          </p:cNvPicPr>
          <p:nvPr/>
        </p:nvPicPr>
        <p:blipFill>
          <a:blip r:embed="rId4"/>
          <a:stretch>
            <a:fillRect/>
          </a:stretch>
        </p:blipFill>
        <p:spPr>
          <a:xfrm>
            <a:off x="854513" y="3775468"/>
            <a:ext cx="3024351" cy="2340070"/>
          </a:xfrm>
          <a:prstGeom prst="rect">
            <a:avLst/>
          </a:prstGeom>
        </p:spPr>
      </p:pic>
      <p:pic>
        <p:nvPicPr>
          <p:cNvPr id="24" name="Picture 23">
            <a:extLst>
              <a:ext uri="{FF2B5EF4-FFF2-40B4-BE49-F238E27FC236}">
                <a16:creationId xmlns:a16="http://schemas.microsoft.com/office/drawing/2014/main" id="{9FFFAED8-1BAE-8763-2736-D4C39F7F00B0}"/>
              </a:ext>
            </a:extLst>
          </p:cNvPr>
          <p:cNvPicPr>
            <a:picLocks noChangeAspect="1"/>
          </p:cNvPicPr>
          <p:nvPr/>
        </p:nvPicPr>
        <p:blipFill>
          <a:blip r:embed="rId5"/>
          <a:stretch>
            <a:fillRect/>
          </a:stretch>
        </p:blipFill>
        <p:spPr>
          <a:xfrm>
            <a:off x="917739" y="6220189"/>
            <a:ext cx="3943900" cy="514422"/>
          </a:xfrm>
          <a:prstGeom prst="rect">
            <a:avLst/>
          </a:prstGeom>
        </p:spPr>
      </p:pic>
    </p:spTree>
    <p:extLst>
      <p:ext uri="{BB962C8B-B14F-4D97-AF65-F5344CB8AC3E}">
        <p14:creationId xmlns:p14="http://schemas.microsoft.com/office/powerpoint/2010/main" val="874973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31000">
              <a:schemeClr val="accent1">
                <a:lumMod val="60000"/>
                <a:lumOff val="40000"/>
              </a:schemeClr>
            </a:gs>
            <a:gs pos="71000">
              <a:srgbClr val="D9EFD1"/>
            </a:gs>
            <a:gs pos="0">
              <a:schemeClr val="accent1">
                <a:lumMod val="5000"/>
                <a:lumOff val="95000"/>
              </a:schemeClr>
            </a:gs>
            <a:gs pos="100000">
              <a:schemeClr val="accent1">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74D0D-4300-F0EA-DA95-384E0C6B1456}"/>
              </a:ext>
            </a:extLst>
          </p:cNvPr>
          <p:cNvSpPr>
            <a:spLocks noGrp="1"/>
          </p:cNvSpPr>
          <p:nvPr>
            <p:ph type="title"/>
          </p:nvPr>
        </p:nvSpPr>
        <p:spPr/>
        <p:txBody>
          <a:bodyPr/>
          <a:lstStyle/>
          <a:p>
            <a:r>
              <a:rPr lang="en-US" b="1"/>
              <a:t>Evaluating The Stepwise Regressions</a:t>
            </a:r>
          </a:p>
        </p:txBody>
      </p:sp>
      <p:sp>
        <p:nvSpPr>
          <p:cNvPr id="3" name="TextBox 2">
            <a:extLst>
              <a:ext uri="{FF2B5EF4-FFF2-40B4-BE49-F238E27FC236}">
                <a16:creationId xmlns:a16="http://schemas.microsoft.com/office/drawing/2014/main" id="{F29D0066-549F-6415-52EB-F9911AF8AC84}"/>
              </a:ext>
            </a:extLst>
          </p:cNvPr>
          <p:cNvSpPr txBox="1"/>
          <p:nvPr/>
        </p:nvSpPr>
        <p:spPr>
          <a:xfrm>
            <a:off x="1020536" y="1690688"/>
            <a:ext cx="9421585" cy="4247317"/>
          </a:xfrm>
          <a:prstGeom prst="rect">
            <a:avLst/>
          </a:prstGeom>
          <a:noFill/>
        </p:spPr>
        <p:txBody>
          <a:bodyPr wrap="square" rtlCol="0">
            <a:spAutoFit/>
          </a:bodyPr>
          <a:lstStyle/>
          <a:p>
            <a:pPr marL="285750" indent="-285750">
              <a:buFont typeface="Wingdings" panose="05000000000000000000" pitchFamily="2" charset="2"/>
              <a:buChar char="Ø"/>
            </a:pPr>
            <a:r>
              <a:rPr lang="en-US"/>
              <a:t>All Models ended with the same variables</a:t>
            </a:r>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a:t>Coefficients seem to be intuitive</a:t>
            </a:r>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a:t>Adding more levels and/or rooms reduces the price</a:t>
            </a:r>
          </a:p>
          <a:p>
            <a:r>
              <a:rPr lang="en-US"/>
              <a:t>	Levels off the increase from square footage</a:t>
            </a:r>
          </a:p>
          <a:p>
            <a:pPr marL="285750" indent="-285750">
              <a:buFont typeface="Wingdings" panose="05000000000000000000" pitchFamily="2" charset="2"/>
              <a:buChar char="Ø"/>
            </a:pPr>
            <a:endParaRPr lang="en-US"/>
          </a:p>
          <a:p>
            <a:pPr marL="285750" indent="-285750">
              <a:buFont typeface="Wingdings" panose="05000000000000000000" pitchFamily="2" charset="2"/>
              <a:buChar char="Ø"/>
            </a:pPr>
            <a:r>
              <a:rPr lang="en-US"/>
              <a:t>Some P-values are not significant</a:t>
            </a:r>
          </a:p>
          <a:p>
            <a:r>
              <a:rPr lang="en-US"/>
              <a:t>	CDU RATING – “VERY POOR” &amp; “POOR”</a:t>
            </a:r>
          </a:p>
          <a:p>
            <a:r>
              <a:rPr lang="en-US"/>
              <a:t>	NUMBER STORIES – “TWO AND ONE HALF”</a:t>
            </a:r>
          </a:p>
          <a:p>
            <a:r>
              <a:rPr lang="en-US"/>
              <a:t>	FOUNDATION TYPE – “BRICK”</a:t>
            </a:r>
          </a:p>
          <a:p>
            <a:r>
              <a:rPr lang="en-US"/>
              <a:t>	FENCE TYPE – SEVERAL</a:t>
            </a:r>
          </a:p>
          <a:p>
            <a:endParaRPr lang="en-US"/>
          </a:p>
          <a:p>
            <a:pPr marL="285750" indent="-285750">
              <a:buFont typeface="Wingdings" panose="05000000000000000000" pitchFamily="2" charset="2"/>
              <a:buChar char="Ø"/>
            </a:pPr>
            <a:r>
              <a:rPr lang="en-US"/>
              <a:t>Accuracy seems decent on validation</a:t>
            </a:r>
          </a:p>
          <a:p>
            <a:r>
              <a:rPr lang="en-US"/>
              <a:t>	</a:t>
            </a:r>
          </a:p>
        </p:txBody>
      </p:sp>
    </p:spTree>
    <p:extLst>
      <p:ext uri="{BB962C8B-B14F-4D97-AF65-F5344CB8AC3E}">
        <p14:creationId xmlns:p14="http://schemas.microsoft.com/office/powerpoint/2010/main" val="2627714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31000">
              <a:schemeClr val="accent1">
                <a:lumMod val="60000"/>
                <a:lumOff val="40000"/>
              </a:schemeClr>
            </a:gs>
            <a:gs pos="71000">
              <a:srgbClr val="D9EFD1"/>
            </a:gs>
            <a:gs pos="0">
              <a:schemeClr val="accent1">
                <a:lumMod val="5000"/>
                <a:lumOff val="95000"/>
              </a:schemeClr>
            </a:gs>
            <a:gs pos="100000">
              <a:schemeClr val="accent1">
                <a:lumMod val="60000"/>
                <a:lumOff val="4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E2A97B-CA23-B861-1999-DEE08B37931F}"/>
              </a:ext>
            </a:extLst>
          </p:cNvPr>
          <p:cNvPicPr>
            <a:picLocks noChangeAspect="1"/>
          </p:cNvPicPr>
          <p:nvPr/>
        </p:nvPicPr>
        <p:blipFill>
          <a:blip r:embed="rId2"/>
          <a:stretch>
            <a:fillRect/>
          </a:stretch>
        </p:blipFill>
        <p:spPr>
          <a:xfrm>
            <a:off x="833751" y="502381"/>
            <a:ext cx="4889409" cy="1531298"/>
          </a:xfrm>
          <a:prstGeom prst="rect">
            <a:avLst/>
          </a:prstGeom>
        </p:spPr>
      </p:pic>
      <p:pic>
        <p:nvPicPr>
          <p:cNvPr id="5" name="Picture 4">
            <a:extLst>
              <a:ext uri="{FF2B5EF4-FFF2-40B4-BE49-F238E27FC236}">
                <a16:creationId xmlns:a16="http://schemas.microsoft.com/office/drawing/2014/main" id="{272BFB0E-EF6B-7260-3217-3D0997113074}"/>
              </a:ext>
            </a:extLst>
          </p:cNvPr>
          <p:cNvPicPr>
            <a:picLocks noChangeAspect="1"/>
          </p:cNvPicPr>
          <p:nvPr/>
        </p:nvPicPr>
        <p:blipFill>
          <a:blip r:embed="rId3"/>
          <a:stretch>
            <a:fillRect/>
          </a:stretch>
        </p:blipFill>
        <p:spPr>
          <a:xfrm>
            <a:off x="5902779" y="125717"/>
            <a:ext cx="6217208" cy="6630070"/>
          </a:xfrm>
          <a:prstGeom prst="rect">
            <a:avLst/>
          </a:prstGeom>
        </p:spPr>
      </p:pic>
      <p:pic>
        <p:nvPicPr>
          <p:cNvPr id="7" name="Picture 6">
            <a:extLst>
              <a:ext uri="{FF2B5EF4-FFF2-40B4-BE49-F238E27FC236}">
                <a16:creationId xmlns:a16="http://schemas.microsoft.com/office/drawing/2014/main" id="{BF005BFC-C076-96FF-EFCF-4DF03AF96203}"/>
              </a:ext>
            </a:extLst>
          </p:cNvPr>
          <p:cNvPicPr>
            <a:picLocks noChangeAspect="1"/>
          </p:cNvPicPr>
          <p:nvPr/>
        </p:nvPicPr>
        <p:blipFill>
          <a:blip r:embed="rId4"/>
          <a:stretch>
            <a:fillRect/>
          </a:stretch>
        </p:blipFill>
        <p:spPr>
          <a:xfrm>
            <a:off x="1296978" y="3367733"/>
            <a:ext cx="3962953" cy="514422"/>
          </a:xfrm>
          <a:prstGeom prst="rect">
            <a:avLst/>
          </a:prstGeom>
        </p:spPr>
      </p:pic>
      <p:sp>
        <p:nvSpPr>
          <p:cNvPr id="8" name="TextBox 7">
            <a:extLst>
              <a:ext uri="{FF2B5EF4-FFF2-40B4-BE49-F238E27FC236}">
                <a16:creationId xmlns:a16="http://schemas.microsoft.com/office/drawing/2014/main" id="{15E45CAC-3615-34B7-034A-872C20E6A449}"/>
              </a:ext>
            </a:extLst>
          </p:cNvPr>
          <p:cNvSpPr txBox="1"/>
          <p:nvPr/>
        </p:nvSpPr>
        <p:spPr>
          <a:xfrm>
            <a:off x="1155741" y="2314610"/>
            <a:ext cx="4245428" cy="830997"/>
          </a:xfrm>
          <a:prstGeom prst="rect">
            <a:avLst/>
          </a:prstGeom>
          <a:noFill/>
        </p:spPr>
        <p:txBody>
          <a:bodyPr wrap="square" rtlCol="0">
            <a:spAutoFit/>
          </a:bodyPr>
          <a:lstStyle/>
          <a:p>
            <a:pPr algn="ctr"/>
            <a:r>
              <a:rPr lang="en-US" sz="2400" b="1"/>
              <a:t>Fifth Model – Polynomial Regression</a:t>
            </a:r>
          </a:p>
        </p:txBody>
      </p:sp>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9762C8AF-2936-1FEF-F481-D0463613DEED}"/>
                  </a:ext>
                </a:extLst>
              </p14:cNvPr>
              <p14:cNvContentPartPr/>
              <p14:nvPr/>
            </p14:nvContentPartPr>
            <p14:xfrm>
              <a:off x="8384773" y="1852959"/>
              <a:ext cx="832320" cy="58320"/>
            </p14:xfrm>
          </p:contentPart>
        </mc:Choice>
        <mc:Fallback>
          <p:pic>
            <p:nvPicPr>
              <p:cNvPr id="9" name="Ink 8">
                <a:extLst>
                  <a:ext uri="{FF2B5EF4-FFF2-40B4-BE49-F238E27FC236}">
                    <a16:creationId xmlns:a16="http://schemas.microsoft.com/office/drawing/2014/main" id="{9762C8AF-2936-1FEF-F481-D0463613DEED}"/>
                  </a:ext>
                </a:extLst>
              </p:cNvPr>
              <p:cNvPicPr/>
              <p:nvPr/>
            </p:nvPicPr>
            <p:blipFill>
              <a:blip r:embed="rId6"/>
              <a:stretch>
                <a:fillRect/>
              </a:stretch>
            </p:blipFill>
            <p:spPr>
              <a:xfrm>
                <a:off x="8348773" y="1780512"/>
                <a:ext cx="903960" cy="202852"/>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FF4467CC-7F65-EAEE-C190-9F75E3F67A96}"/>
                  </a:ext>
                </a:extLst>
              </p14:cNvPr>
              <p14:cNvContentPartPr/>
              <p14:nvPr/>
            </p14:nvContentPartPr>
            <p14:xfrm>
              <a:off x="8385493" y="2016039"/>
              <a:ext cx="856800" cy="35280"/>
            </p14:xfrm>
          </p:contentPart>
        </mc:Choice>
        <mc:Fallback>
          <p:pic>
            <p:nvPicPr>
              <p:cNvPr id="10" name="Ink 9">
                <a:extLst>
                  <a:ext uri="{FF2B5EF4-FFF2-40B4-BE49-F238E27FC236}">
                    <a16:creationId xmlns:a16="http://schemas.microsoft.com/office/drawing/2014/main" id="{FF4467CC-7F65-EAEE-C190-9F75E3F67A96}"/>
                  </a:ext>
                </a:extLst>
              </p:cNvPr>
              <p:cNvPicPr/>
              <p:nvPr/>
            </p:nvPicPr>
            <p:blipFill>
              <a:blip r:embed="rId8"/>
              <a:stretch>
                <a:fillRect/>
              </a:stretch>
            </p:blipFill>
            <p:spPr>
              <a:xfrm>
                <a:off x="8349493" y="1944039"/>
                <a:ext cx="9284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772E8232-D369-1C14-66E5-589306F01580}"/>
                  </a:ext>
                </a:extLst>
              </p14:cNvPr>
              <p14:cNvContentPartPr/>
              <p14:nvPr/>
            </p14:nvContentPartPr>
            <p14:xfrm>
              <a:off x="8425453" y="2146719"/>
              <a:ext cx="776520" cy="56520"/>
            </p14:xfrm>
          </p:contentPart>
        </mc:Choice>
        <mc:Fallback>
          <p:pic>
            <p:nvPicPr>
              <p:cNvPr id="11" name="Ink 10">
                <a:extLst>
                  <a:ext uri="{FF2B5EF4-FFF2-40B4-BE49-F238E27FC236}">
                    <a16:creationId xmlns:a16="http://schemas.microsoft.com/office/drawing/2014/main" id="{772E8232-D369-1C14-66E5-589306F01580}"/>
                  </a:ext>
                </a:extLst>
              </p:cNvPr>
              <p:cNvPicPr/>
              <p:nvPr/>
            </p:nvPicPr>
            <p:blipFill>
              <a:blip r:embed="rId10"/>
              <a:stretch>
                <a:fillRect/>
              </a:stretch>
            </p:blipFill>
            <p:spPr>
              <a:xfrm>
                <a:off x="8389453" y="2074719"/>
                <a:ext cx="84816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C1207D06-BF1F-B1D9-219F-E063A79918FD}"/>
                  </a:ext>
                </a:extLst>
              </p14:cNvPr>
              <p14:cNvContentPartPr/>
              <p14:nvPr/>
            </p14:nvContentPartPr>
            <p14:xfrm>
              <a:off x="8369293" y="2263359"/>
              <a:ext cx="873000" cy="56880"/>
            </p14:xfrm>
          </p:contentPart>
        </mc:Choice>
        <mc:Fallback>
          <p:pic>
            <p:nvPicPr>
              <p:cNvPr id="12" name="Ink 11">
                <a:extLst>
                  <a:ext uri="{FF2B5EF4-FFF2-40B4-BE49-F238E27FC236}">
                    <a16:creationId xmlns:a16="http://schemas.microsoft.com/office/drawing/2014/main" id="{C1207D06-BF1F-B1D9-219F-E063A79918FD}"/>
                  </a:ext>
                </a:extLst>
              </p:cNvPr>
              <p:cNvPicPr/>
              <p:nvPr/>
            </p:nvPicPr>
            <p:blipFill>
              <a:blip r:embed="rId12"/>
              <a:stretch>
                <a:fillRect/>
              </a:stretch>
            </p:blipFill>
            <p:spPr>
              <a:xfrm>
                <a:off x="8333293" y="2191359"/>
                <a:ext cx="94464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70AFFEA8-6799-0983-3A96-7D74C0BE6BAF}"/>
                  </a:ext>
                </a:extLst>
              </p14:cNvPr>
              <p14:cNvContentPartPr/>
              <p14:nvPr/>
            </p14:nvContentPartPr>
            <p14:xfrm>
              <a:off x="8441653" y="5370159"/>
              <a:ext cx="767160" cy="27000"/>
            </p14:xfrm>
          </p:contentPart>
        </mc:Choice>
        <mc:Fallback>
          <p:pic>
            <p:nvPicPr>
              <p:cNvPr id="13" name="Ink 12">
                <a:extLst>
                  <a:ext uri="{FF2B5EF4-FFF2-40B4-BE49-F238E27FC236}">
                    <a16:creationId xmlns:a16="http://schemas.microsoft.com/office/drawing/2014/main" id="{70AFFEA8-6799-0983-3A96-7D74C0BE6BAF}"/>
                  </a:ext>
                </a:extLst>
              </p:cNvPr>
              <p:cNvPicPr/>
              <p:nvPr/>
            </p:nvPicPr>
            <p:blipFill>
              <a:blip r:embed="rId14"/>
              <a:stretch>
                <a:fillRect/>
              </a:stretch>
            </p:blipFill>
            <p:spPr>
              <a:xfrm>
                <a:off x="8405653" y="5299106"/>
                <a:ext cx="838800" cy="16875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E7C25909-0D4B-7024-557B-01FB9CAEE451}"/>
                  </a:ext>
                </a:extLst>
              </p14:cNvPr>
              <p14:cNvContentPartPr/>
              <p14:nvPr/>
            </p14:nvContentPartPr>
            <p14:xfrm>
              <a:off x="9078493" y="6539439"/>
              <a:ext cx="412560" cy="42120"/>
            </p14:xfrm>
          </p:contentPart>
        </mc:Choice>
        <mc:Fallback>
          <p:pic>
            <p:nvPicPr>
              <p:cNvPr id="15" name="Ink 14">
                <a:extLst>
                  <a:ext uri="{FF2B5EF4-FFF2-40B4-BE49-F238E27FC236}">
                    <a16:creationId xmlns:a16="http://schemas.microsoft.com/office/drawing/2014/main" id="{E7C25909-0D4B-7024-557B-01FB9CAEE451}"/>
                  </a:ext>
                </a:extLst>
              </p:cNvPr>
              <p:cNvPicPr/>
              <p:nvPr/>
            </p:nvPicPr>
            <p:blipFill>
              <a:blip r:embed="rId16"/>
              <a:stretch>
                <a:fillRect/>
              </a:stretch>
            </p:blipFill>
            <p:spPr>
              <a:xfrm>
                <a:off x="9042493" y="6467439"/>
                <a:ext cx="484200" cy="185760"/>
              </a:xfrm>
              <a:prstGeom prst="rect">
                <a:avLst/>
              </a:prstGeom>
            </p:spPr>
          </p:pic>
        </mc:Fallback>
      </mc:AlternateContent>
      <p:sp>
        <p:nvSpPr>
          <p:cNvPr id="16" name="TextBox 15">
            <a:extLst>
              <a:ext uri="{FF2B5EF4-FFF2-40B4-BE49-F238E27FC236}">
                <a16:creationId xmlns:a16="http://schemas.microsoft.com/office/drawing/2014/main" id="{038FCF5C-7A6D-2EB0-CE36-A9783B9788EE}"/>
              </a:ext>
            </a:extLst>
          </p:cNvPr>
          <p:cNvSpPr txBox="1"/>
          <p:nvPr/>
        </p:nvSpPr>
        <p:spPr>
          <a:xfrm>
            <a:off x="1094014" y="4425043"/>
            <a:ext cx="4523015" cy="2031325"/>
          </a:xfrm>
          <a:prstGeom prst="rect">
            <a:avLst/>
          </a:prstGeom>
          <a:noFill/>
        </p:spPr>
        <p:txBody>
          <a:bodyPr wrap="square" rtlCol="0">
            <a:spAutoFit/>
          </a:bodyPr>
          <a:lstStyle/>
          <a:p>
            <a:pPr marL="285750" indent="-285750">
              <a:buFont typeface="Wingdings" panose="05000000000000000000" pitchFamily="2" charset="2"/>
              <a:buChar char="Ø"/>
            </a:pPr>
            <a:r>
              <a:rPr lang="en-US"/>
              <a:t>Slight Improvement on Accuracy</a:t>
            </a:r>
          </a:p>
          <a:p>
            <a:pPr marL="285750" indent="-285750">
              <a:buFont typeface="Wingdings" panose="05000000000000000000" pitchFamily="2" charset="2"/>
              <a:buChar char="Ø"/>
            </a:pPr>
            <a:r>
              <a:rPr lang="en-US"/>
              <a:t>Most Values are Similar</a:t>
            </a:r>
          </a:p>
          <a:p>
            <a:pPr marL="285750" indent="-285750">
              <a:buFont typeface="Wingdings" panose="05000000000000000000" pitchFamily="2" charset="2"/>
              <a:buChar char="Ø"/>
            </a:pPr>
            <a:r>
              <a:rPr lang="en-US"/>
              <a:t>Two and One Half Stories changed from positive to negative</a:t>
            </a:r>
          </a:p>
          <a:p>
            <a:pPr marL="285750" indent="-285750">
              <a:buFont typeface="Wingdings" panose="05000000000000000000" pitchFamily="2" charset="2"/>
              <a:buChar char="Ø"/>
            </a:pPr>
            <a:r>
              <a:rPr lang="en-US"/>
              <a:t>Polynomial not necessarily needed in this Dataset</a:t>
            </a:r>
          </a:p>
          <a:p>
            <a:endParaRPr lang="en-US"/>
          </a:p>
        </p:txBody>
      </p:sp>
    </p:spTree>
    <p:extLst>
      <p:ext uri="{BB962C8B-B14F-4D97-AF65-F5344CB8AC3E}">
        <p14:creationId xmlns:p14="http://schemas.microsoft.com/office/powerpoint/2010/main" val="1899522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3AA07E-274C-BF17-A67A-A2B7FE85E90D}"/>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b="1" i="0" kern="1200" cap="all" baseline="0">
                <a:solidFill>
                  <a:schemeClr val="bg1"/>
                </a:solidFill>
                <a:latin typeface="+mj-lt"/>
                <a:ea typeface="+mj-ea"/>
                <a:cs typeface="+mj-cs"/>
              </a:rPr>
              <a:t>CDU Rating Prediction</a:t>
            </a:r>
          </a:p>
        </p:txBody>
      </p:sp>
      <p:sp>
        <p:nvSpPr>
          <p:cNvPr id="3" name="Text Placeholder 2">
            <a:extLst>
              <a:ext uri="{FF2B5EF4-FFF2-40B4-BE49-F238E27FC236}">
                <a16:creationId xmlns:a16="http://schemas.microsoft.com/office/drawing/2014/main" id="{F564C230-8BC9-73D3-C8D2-F66CF9C1C749}"/>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r>
              <a:rPr lang="en-US" sz="2000" kern="1200">
                <a:solidFill>
                  <a:schemeClr val="bg1"/>
                </a:solidFill>
                <a:latin typeface="+mn-lt"/>
                <a:ea typeface="+mn-ea"/>
                <a:cs typeface="+mn-cs"/>
              </a:rPr>
              <a:t>Classification Tree</a:t>
            </a:r>
          </a:p>
        </p:txBody>
      </p:sp>
      <p:sp>
        <p:nvSpPr>
          <p:cNvPr id="1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a:p>
        </p:txBody>
      </p:sp>
      <p:sp>
        <p:nvSpPr>
          <p:cNvPr id="1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6"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1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a:p>
        </p:txBody>
      </p:sp>
      <p:sp>
        <p:nvSpPr>
          <p:cNvPr id="2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22"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a:p>
        </p:txBody>
      </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085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31386D-51C3-DBA2-C263-0068303DDCA5}"/>
              </a:ext>
            </a:extLst>
          </p:cNvPr>
          <p:cNvSpPr>
            <a:spLocks noGrp="1"/>
          </p:cNvSpPr>
          <p:nvPr>
            <p:ph type="title"/>
          </p:nvPr>
        </p:nvSpPr>
        <p:spPr>
          <a:xfrm>
            <a:off x="1188069" y="381935"/>
            <a:ext cx="4008583" cy="5974414"/>
          </a:xfrm>
        </p:spPr>
        <p:txBody>
          <a:bodyPr anchor="ctr">
            <a:normAutofit/>
          </a:bodyPr>
          <a:lstStyle/>
          <a:p>
            <a:r>
              <a:rPr lang="en-US" sz="5000">
                <a:solidFill>
                  <a:schemeClr val="bg1"/>
                </a:solidFill>
              </a:rPr>
              <a:t>CDU Rating Background</a:t>
            </a:r>
          </a:p>
        </p:txBody>
      </p:sp>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bg1"/>
          </a:solidFill>
          <a:ln w="776"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bg1"/>
          </a:solidFill>
          <a:ln w="516"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bg1"/>
          </a:solidFill>
          <a:ln w="751" cap="flat">
            <a:noFill/>
            <a:prstDash val="solid"/>
            <a:miter/>
          </a:ln>
        </p:spPr>
        <p:txBody>
          <a:bodyPr rtlCol="0" anchor="ctr"/>
          <a:lstStyle/>
          <a:p>
            <a:endParaRPr lang="en-US"/>
          </a:p>
        </p:txBody>
      </p:sp>
      <p:sp>
        <p:nvSpPr>
          <p:cNvPr id="4" name="Content Placeholder 3">
            <a:extLst>
              <a:ext uri="{FF2B5EF4-FFF2-40B4-BE49-F238E27FC236}">
                <a16:creationId xmlns:a16="http://schemas.microsoft.com/office/drawing/2014/main" id="{5190DE14-C775-ECB1-9CEB-AF4E25F2CB02}"/>
              </a:ext>
            </a:extLst>
          </p:cNvPr>
          <p:cNvSpPr>
            <a:spLocks noGrp="1"/>
          </p:cNvSpPr>
          <p:nvPr>
            <p:ph idx="1"/>
          </p:nvPr>
        </p:nvSpPr>
        <p:spPr>
          <a:xfrm>
            <a:off x="6096000" y="381935"/>
            <a:ext cx="4986955" cy="5974415"/>
          </a:xfrm>
        </p:spPr>
        <p:txBody>
          <a:bodyPr vert="horz" lIns="91440" tIns="45720" rIns="91440" bIns="45720" rtlCol="0" anchor="ctr">
            <a:normAutofit/>
          </a:bodyPr>
          <a:lstStyle/>
          <a:p>
            <a:r>
              <a:rPr lang="en-US" sz="1700">
                <a:ea typeface="+mn-lt"/>
                <a:cs typeface="+mn-lt"/>
              </a:rPr>
              <a:t>Condition, Desirability, Utility</a:t>
            </a:r>
          </a:p>
          <a:p>
            <a:r>
              <a:rPr lang="en-US" sz="1700">
                <a:ea typeface="+mn-lt"/>
                <a:cs typeface="+mn-lt"/>
              </a:rPr>
              <a:t>Excellent - Building is in perfect condition; very attractive and highly desirable</a:t>
            </a:r>
            <a:endParaRPr lang="en-US" sz="1700"/>
          </a:p>
          <a:p>
            <a:r>
              <a:rPr lang="en-US" sz="1700">
                <a:ea typeface="+mn-lt"/>
                <a:cs typeface="+mn-lt"/>
              </a:rPr>
              <a:t>Very Good - Slight evidence of deterioration; still attractive and quite desirable.</a:t>
            </a:r>
            <a:endParaRPr lang="en-US" sz="1700"/>
          </a:p>
          <a:p>
            <a:r>
              <a:rPr lang="en-US" sz="1700">
                <a:ea typeface="+mn-lt"/>
                <a:cs typeface="+mn-lt"/>
              </a:rPr>
              <a:t>Good - Minor deterioration visible; slightly less attractive and desirable, but useful.</a:t>
            </a:r>
            <a:endParaRPr lang="en-US" sz="1700"/>
          </a:p>
          <a:p>
            <a:r>
              <a:rPr lang="en-US" sz="1700">
                <a:ea typeface="+mn-lt"/>
                <a:cs typeface="+mn-lt"/>
              </a:rPr>
              <a:t>Average - Normal wear and tear is apparent; average attractiveness and desirability.</a:t>
            </a:r>
            <a:endParaRPr lang="en-US" sz="1700"/>
          </a:p>
          <a:p>
            <a:r>
              <a:rPr lang="en-US" sz="1700">
                <a:ea typeface="+mn-lt"/>
                <a:cs typeface="+mn-lt"/>
              </a:rPr>
              <a:t>Fair - Marked deterioration - but quite usable; rather unattractive and undesirable</a:t>
            </a:r>
            <a:endParaRPr lang="en-US" sz="1700"/>
          </a:p>
          <a:p>
            <a:r>
              <a:rPr lang="en-US" sz="1700">
                <a:ea typeface="+mn-lt"/>
                <a:cs typeface="+mn-lt"/>
              </a:rPr>
              <a:t>Poor - Definite deterioration is obvious; undesirable, and barely usable.</a:t>
            </a:r>
            <a:endParaRPr lang="en-US" sz="1700"/>
          </a:p>
          <a:p>
            <a:r>
              <a:rPr lang="en-US" sz="1700">
                <a:ea typeface="+mn-lt"/>
                <a:cs typeface="+mn-lt"/>
              </a:rPr>
              <a:t>Very - Poor Condition approaches unsoundness; extremely undesirable and barely usable.</a:t>
            </a:r>
            <a:endParaRPr lang="en-US" sz="1700"/>
          </a:p>
          <a:p>
            <a:r>
              <a:rPr lang="en-US" sz="1700">
                <a:ea typeface="+mn-lt"/>
                <a:cs typeface="+mn-lt"/>
              </a:rPr>
              <a:t>Unsound - Building is unsound and practically unfit for use</a:t>
            </a:r>
          </a:p>
          <a:p>
            <a:r>
              <a:rPr lang="en-US" sz="1700">
                <a:ea typeface="+mn-lt"/>
                <a:cs typeface="+mn-lt"/>
              </a:rPr>
              <a:t>These categories are determined by an official government assigned appraiser</a:t>
            </a:r>
          </a:p>
        </p:txBody>
      </p:sp>
      <p:cxnSp>
        <p:nvCxnSpPr>
          <p:cNvPr id="19" name="Straight Connector 1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54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999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64261-8994-E32B-03E9-7DA35D5F0C3E}"/>
              </a:ext>
            </a:extLst>
          </p:cNvPr>
          <p:cNvSpPr>
            <a:spLocks noGrp="1"/>
          </p:cNvSpPr>
          <p:nvPr>
            <p:ph type="title"/>
          </p:nvPr>
        </p:nvSpPr>
        <p:spPr>
          <a:xfrm>
            <a:off x="6412091" y="501651"/>
            <a:ext cx="4395340" cy="1716255"/>
          </a:xfrm>
        </p:spPr>
        <p:txBody>
          <a:bodyPr anchor="b">
            <a:normAutofit/>
          </a:bodyPr>
          <a:lstStyle/>
          <a:p>
            <a:r>
              <a:rPr lang="en-US" sz="5400"/>
              <a:t>Data Cleaning</a:t>
            </a:r>
          </a:p>
        </p:txBody>
      </p:sp>
      <p:sp>
        <p:nvSpPr>
          <p:cNvPr id="23" name="Rectangle 22">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blue and yellow circular object with a broom&#10;&#10;Description automatically generated with medium confidence">
            <a:extLst>
              <a:ext uri="{FF2B5EF4-FFF2-40B4-BE49-F238E27FC236}">
                <a16:creationId xmlns:a16="http://schemas.microsoft.com/office/drawing/2014/main" id="{393FB03F-F82A-82B7-E8DC-129B8B294B26}"/>
              </a:ext>
            </a:extLst>
          </p:cNvPr>
          <p:cNvPicPr>
            <a:picLocks noChangeAspect="1"/>
          </p:cNvPicPr>
          <p:nvPr/>
        </p:nvPicPr>
        <p:blipFill>
          <a:blip r:embed="rId3">
            <a:extLst>
              <a:ext uri="{28A0092B-C50C-407E-A947-70E740481C1C}">
                <a14:useLocalDpi xmlns:a14="http://schemas.microsoft.com/office/drawing/2010/main" val="0"/>
              </a:ext>
            </a:extLst>
          </a:blip>
          <a:srcRect r="-1" b="-1"/>
          <a:stretch/>
        </p:blipFill>
        <p:spPr>
          <a:xfrm>
            <a:off x="1372012" y="3675688"/>
            <a:ext cx="2674942" cy="2684968"/>
          </a:xfrm>
          <a:prstGeom prst="rect">
            <a:avLst/>
          </a:prstGeom>
        </p:spPr>
      </p:pic>
      <p:sp>
        <p:nvSpPr>
          <p:cNvPr id="3" name="Content Placeholder 2">
            <a:extLst>
              <a:ext uri="{FF2B5EF4-FFF2-40B4-BE49-F238E27FC236}">
                <a16:creationId xmlns:a16="http://schemas.microsoft.com/office/drawing/2014/main" id="{69DBF001-11BF-5976-9622-FED416347E93}"/>
              </a:ext>
            </a:extLst>
          </p:cNvPr>
          <p:cNvSpPr>
            <a:spLocks noGrp="1"/>
          </p:cNvSpPr>
          <p:nvPr>
            <p:ph idx="1"/>
          </p:nvPr>
        </p:nvSpPr>
        <p:spPr>
          <a:xfrm>
            <a:off x="6392583" y="2645922"/>
            <a:ext cx="4434721" cy="3710427"/>
          </a:xfrm>
        </p:spPr>
        <p:txBody>
          <a:bodyPr vert="horz" lIns="91440" tIns="45720" rIns="91440" bIns="45720" rtlCol="0" anchor="t">
            <a:normAutofit/>
          </a:bodyPr>
          <a:lstStyle/>
          <a:p>
            <a:r>
              <a:rPr lang="en-US" sz="1700"/>
              <a:t>Removed columns corresponding to location to prevent these from effecting the model</a:t>
            </a:r>
          </a:p>
          <a:p>
            <a:r>
              <a:rPr lang="en-US" sz="1700"/>
              <a:t>Reviewed tables of each column to determine if it was mostly null/one value and removed these columns</a:t>
            </a:r>
          </a:p>
          <a:p>
            <a:r>
              <a:rPr lang="en-US" sz="1700"/>
              <a:t>Created a column that determined if the owner lived in the same city as the property</a:t>
            </a:r>
          </a:p>
          <a:p>
            <a:r>
              <a:rPr lang="en-US" sz="1700"/>
              <a:t>No rows needed to be removed as all remaining columns had no NA data</a:t>
            </a:r>
          </a:p>
          <a:p>
            <a:r>
              <a:rPr lang="en-US" sz="1700"/>
              <a:t>Converted categorical and logical columns into usable formats</a:t>
            </a:r>
          </a:p>
        </p:txBody>
      </p:sp>
      <p:cxnSp>
        <p:nvCxnSpPr>
          <p:cNvPr id="25" name="Straight Connector 2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4" name="Picture 3" descr="A screenshot of a computer code&#10;&#10;Description automatically generated">
            <a:extLst>
              <a:ext uri="{FF2B5EF4-FFF2-40B4-BE49-F238E27FC236}">
                <a16:creationId xmlns:a16="http://schemas.microsoft.com/office/drawing/2014/main" id="{38A609A8-8062-9C70-FDDE-DDF39D90BC76}"/>
              </a:ext>
            </a:extLst>
          </p:cNvPr>
          <p:cNvPicPr>
            <a:picLocks noChangeAspect="1"/>
          </p:cNvPicPr>
          <p:nvPr/>
        </p:nvPicPr>
        <p:blipFill>
          <a:blip r:embed="rId4"/>
          <a:stretch>
            <a:fillRect/>
          </a:stretch>
        </p:blipFill>
        <p:spPr>
          <a:xfrm>
            <a:off x="553704" y="350670"/>
            <a:ext cx="4316830" cy="2727659"/>
          </a:xfrm>
          <a:prstGeom prst="rect">
            <a:avLst/>
          </a:prstGeom>
        </p:spPr>
      </p:pic>
    </p:spTree>
    <p:extLst>
      <p:ext uri="{BB962C8B-B14F-4D97-AF65-F5344CB8AC3E}">
        <p14:creationId xmlns:p14="http://schemas.microsoft.com/office/powerpoint/2010/main" val="1560053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92F90-3EB4-EBDB-0888-844D484658AE}"/>
              </a:ext>
            </a:extLst>
          </p:cNvPr>
          <p:cNvSpPr>
            <a:spLocks noGrp="1"/>
          </p:cNvSpPr>
          <p:nvPr>
            <p:ph type="title"/>
          </p:nvPr>
        </p:nvSpPr>
        <p:spPr/>
        <p:txBody>
          <a:bodyPr/>
          <a:lstStyle/>
          <a:p>
            <a:r>
              <a:rPr lang="en-US"/>
              <a:t>Correlation</a:t>
            </a:r>
          </a:p>
        </p:txBody>
      </p:sp>
      <p:pic>
        <p:nvPicPr>
          <p:cNvPr id="5" name="Content Placeholder 4">
            <a:extLst>
              <a:ext uri="{FF2B5EF4-FFF2-40B4-BE49-F238E27FC236}">
                <a16:creationId xmlns:a16="http://schemas.microsoft.com/office/drawing/2014/main" id="{22DA27BB-D093-0BB8-E2A5-AF42AF486405}"/>
              </a:ext>
            </a:extLst>
          </p:cNvPr>
          <p:cNvPicPr>
            <a:picLocks noGrp="1" noChangeAspect="1"/>
          </p:cNvPicPr>
          <p:nvPr>
            <p:ph idx="1"/>
          </p:nvPr>
        </p:nvPicPr>
        <p:blipFill>
          <a:blip r:embed="rId2"/>
          <a:stretch>
            <a:fillRect/>
          </a:stretch>
        </p:blipFill>
        <p:spPr>
          <a:xfrm>
            <a:off x="5183188" y="1219880"/>
            <a:ext cx="6172200" cy="4408714"/>
          </a:xfrm>
        </p:spPr>
      </p:pic>
      <p:sp>
        <p:nvSpPr>
          <p:cNvPr id="4" name="Text Placeholder 3">
            <a:extLst>
              <a:ext uri="{FF2B5EF4-FFF2-40B4-BE49-F238E27FC236}">
                <a16:creationId xmlns:a16="http://schemas.microsoft.com/office/drawing/2014/main" id="{9B3C0105-22D8-037A-2CFF-693EFF88F5AC}"/>
              </a:ext>
            </a:extLst>
          </p:cNvPr>
          <p:cNvSpPr>
            <a:spLocks noGrp="1"/>
          </p:cNvSpPr>
          <p:nvPr>
            <p:ph type="body" sz="half" idx="2"/>
          </p:nvPr>
        </p:nvSpPr>
        <p:spPr/>
        <p:txBody>
          <a:bodyPr vert="horz" lIns="91440" tIns="45720" rIns="91440" bIns="45720" rtlCol="0" anchor="t">
            <a:normAutofit/>
          </a:bodyPr>
          <a:lstStyle/>
          <a:p>
            <a:pPr marL="285750" indent="-285750">
              <a:buChar char="•"/>
            </a:pPr>
            <a:r>
              <a:rPr lang="en-US"/>
              <a:t>Looking deeper into column correlation we can remove several columns due to being overly correlated</a:t>
            </a:r>
          </a:p>
          <a:p>
            <a:pPr marL="285750" indent="-285750">
              <a:buChar char="•"/>
            </a:pPr>
            <a:r>
              <a:rPr lang="en-US"/>
              <a:t>For instance, EFF_YR_BUILT and YR_BUILT have a correlation coefficient of 0.9971</a:t>
            </a:r>
          </a:p>
          <a:p>
            <a:pPr marL="285750" indent="-285750">
              <a:buChar char="•"/>
            </a:pPr>
            <a:r>
              <a:rPr lang="en-US"/>
              <a:t>After this final round of removals, we are left with 27 predictors and the CDU Rating</a:t>
            </a:r>
          </a:p>
        </p:txBody>
      </p:sp>
    </p:spTree>
    <p:extLst>
      <p:ext uri="{BB962C8B-B14F-4D97-AF65-F5344CB8AC3E}">
        <p14:creationId xmlns:p14="http://schemas.microsoft.com/office/powerpoint/2010/main" val="1226584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BC65-F820-0014-54B0-D7ED105BBDB8}"/>
              </a:ext>
            </a:extLst>
          </p:cNvPr>
          <p:cNvSpPr>
            <a:spLocks noGrp="1"/>
          </p:cNvSpPr>
          <p:nvPr>
            <p:ph type="title"/>
          </p:nvPr>
        </p:nvSpPr>
        <p:spPr/>
        <p:txBody>
          <a:bodyPr/>
          <a:lstStyle/>
          <a:p>
            <a:r>
              <a:rPr lang="en-US"/>
              <a:t>Classification Tree</a:t>
            </a:r>
          </a:p>
        </p:txBody>
      </p:sp>
      <p:sp>
        <p:nvSpPr>
          <p:cNvPr id="4" name="Text Placeholder 3">
            <a:extLst>
              <a:ext uri="{FF2B5EF4-FFF2-40B4-BE49-F238E27FC236}">
                <a16:creationId xmlns:a16="http://schemas.microsoft.com/office/drawing/2014/main" id="{8CA7D735-96CE-4AFE-3ED1-9A9B137732D8}"/>
              </a:ext>
            </a:extLst>
          </p:cNvPr>
          <p:cNvSpPr>
            <a:spLocks noGrp="1"/>
          </p:cNvSpPr>
          <p:nvPr>
            <p:ph type="body" idx="1"/>
          </p:nvPr>
        </p:nvSpPr>
        <p:spPr>
          <a:xfrm>
            <a:off x="839788" y="1237467"/>
            <a:ext cx="5157787" cy="823912"/>
          </a:xfrm>
        </p:spPr>
        <p:txBody>
          <a:bodyPr/>
          <a:lstStyle/>
          <a:p>
            <a:r>
              <a:rPr lang="en-US"/>
              <a:t>Standard Error Prune</a:t>
            </a:r>
          </a:p>
        </p:txBody>
      </p:sp>
      <p:pic>
        <p:nvPicPr>
          <p:cNvPr id="7" name="Content Placeholder 6" descr="A diagram of a company&#10;&#10;Description automatically generated">
            <a:extLst>
              <a:ext uri="{FF2B5EF4-FFF2-40B4-BE49-F238E27FC236}">
                <a16:creationId xmlns:a16="http://schemas.microsoft.com/office/drawing/2014/main" id="{C35BCABE-530F-4A93-3156-6FF49BE30A75}"/>
              </a:ext>
            </a:extLst>
          </p:cNvPr>
          <p:cNvPicPr>
            <a:picLocks noGrp="1" noChangeAspect="1"/>
          </p:cNvPicPr>
          <p:nvPr>
            <p:ph sz="half" idx="2"/>
          </p:nvPr>
        </p:nvPicPr>
        <p:blipFill>
          <a:blip r:embed="rId2"/>
          <a:stretch>
            <a:fillRect/>
          </a:stretch>
        </p:blipFill>
        <p:spPr>
          <a:xfrm>
            <a:off x="839788" y="2061606"/>
            <a:ext cx="5157787" cy="3684134"/>
          </a:xfrm>
        </p:spPr>
      </p:pic>
      <p:sp>
        <p:nvSpPr>
          <p:cNvPr id="5" name="Text Placeholder 4">
            <a:extLst>
              <a:ext uri="{FF2B5EF4-FFF2-40B4-BE49-F238E27FC236}">
                <a16:creationId xmlns:a16="http://schemas.microsoft.com/office/drawing/2014/main" id="{2606EF01-4537-BEE4-0E62-1BBABC6AF6B1}"/>
              </a:ext>
            </a:extLst>
          </p:cNvPr>
          <p:cNvSpPr>
            <a:spLocks noGrp="1"/>
          </p:cNvSpPr>
          <p:nvPr>
            <p:ph type="body" sz="quarter" idx="3"/>
          </p:nvPr>
        </p:nvSpPr>
        <p:spPr>
          <a:xfrm>
            <a:off x="6172200" y="1237467"/>
            <a:ext cx="5183188" cy="823912"/>
          </a:xfrm>
        </p:spPr>
        <p:txBody>
          <a:bodyPr/>
          <a:lstStyle/>
          <a:p>
            <a:r>
              <a:rPr lang="en-US"/>
              <a:t>Cross-Validated SSE Prune</a:t>
            </a:r>
          </a:p>
        </p:txBody>
      </p:sp>
      <p:pic>
        <p:nvPicPr>
          <p:cNvPr id="8" name="Content Placeholder 7" descr="A diagram of a company&#10;&#10;Description automatically generated">
            <a:extLst>
              <a:ext uri="{FF2B5EF4-FFF2-40B4-BE49-F238E27FC236}">
                <a16:creationId xmlns:a16="http://schemas.microsoft.com/office/drawing/2014/main" id="{C9C6AA96-F97A-F882-25EF-0F96925A08A5}"/>
              </a:ext>
            </a:extLst>
          </p:cNvPr>
          <p:cNvPicPr>
            <a:picLocks noGrp="1" noChangeAspect="1"/>
          </p:cNvPicPr>
          <p:nvPr>
            <p:ph sz="quarter" idx="4"/>
          </p:nvPr>
        </p:nvPicPr>
        <p:blipFill>
          <a:blip r:embed="rId2"/>
          <a:stretch>
            <a:fillRect/>
          </a:stretch>
        </p:blipFill>
        <p:spPr>
          <a:xfrm>
            <a:off x="6184582" y="2061379"/>
            <a:ext cx="5158423" cy="3684588"/>
          </a:xfrm>
        </p:spPr>
      </p:pic>
      <p:sp>
        <p:nvSpPr>
          <p:cNvPr id="12" name="Content Placeholder 3">
            <a:extLst>
              <a:ext uri="{FF2B5EF4-FFF2-40B4-BE49-F238E27FC236}">
                <a16:creationId xmlns:a16="http://schemas.microsoft.com/office/drawing/2014/main" id="{384BF27D-06BF-8604-DD1A-B049580765FA}"/>
              </a:ext>
            </a:extLst>
          </p:cNvPr>
          <p:cNvSpPr txBox="1">
            <a:spLocks/>
          </p:cNvSpPr>
          <p:nvPr/>
        </p:nvSpPr>
        <p:spPr>
          <a:xfrm>
            <a:off x="751390" y="5741726"/>
            <a:ext cx="10505955" cy="763187"/>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800">
                <a:ea typeface="+mn-lt"/>
                <a:cs typeface="+mn-lt"/>
              </a:rPr>
              <a:t>As we see, both methods achieve the same tree so we can evaluate performance.</a:t>
            </a:r>
            <a:endParaRPr lang="en-US" sz="1800"/>
          </a:p>
        </p:txBody>
      </p:sp>
    </p:spTree>
    <p:extLst>
      <p:ext uri="{BB962C8B-B14F-4D97-AF65-F5344CB8AC3E}">
        <p14:creationId xmlns:p14="http://schemas.microsoft.com/office/powerpoint/2010/main" val="3288553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D728E-1D10-8D81-D835-360F58C98872}"/>
              </a:ext>
            </a:extLst>
          </p:cNvPr>
          <p:cNvSpPr>
            <a:spLocks noGrp="1"/>
          </p:cNvSpPr>
          <p:nvPr>
            <p:ph type="title"/>
          </p:nvPr>
        </p:nvSpPr>
        <p:spPr>
          <a:xfrm>
            <a:off x="838200" y="1336390"/>
            <a:ext cx="6155988" cy="1182927"/>
          </a:xfrm>
        </p:spPr>
        <p:txBody>
          <a:bodyPr vert="horz" lIns="91440" tIns="45720" rIns="91440" bIns="45720" rtlCol="0" anchor="b">
            <a:normAutofit/>
          </a:bodyPr>
          <a:lstStyle/>
          <a:p>
            <a:r>
              <a:rPr lang="en-US" sz="5400" kern="1200">
                <a:solidFill>
                  <a:schemeClr val="tx1"/>
                </a:solidFill>
                <a:latin typeface="+mj-lt"/>
                <a:ea typeface="+mj-ea"/>
                <a:cs typeface="+mj-cs"/>
              </a:rPr>
              <a:t>Confusion Matrix</a:t>
            </a:r>
          </a:p>
        </p:txBody>
      </p:sp>
      <p:cxnSp>
        <p:nvCxnSpPr>
          <p:cNvPr id="17" name="Straight Connector 16">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3749389-79B0-752A-133C-C5B603806702}"/>
              </a:ext>
            </a:extLst>
          </p:cNvPr>
          <p:cNvSpPr>
            <a:spLocks noGrp="1"/>
          </p:cNvSpPr>
          <p:nvPr>
            <p:ph type="body" sz="half" idx="2"/>
          </p:nvPr>
        </p:nvSpPr>
        <p:spPr>
          <a:xfrm>
            <a:off x="803776" y="2829330"/>
            <a:ext cx="6190412" cy="3344459"/>
          </a:xfrm>
        </p:spPr>
        <p:txBody>
          <a:bodyPr vert="horz" lIns="91440" tIns="45720" rIns="91440" bIns="45720" rtlCol="0" anchor="t">
            <a:normAutofit/>
          </a:bodyPr>
          <a:lstStyle/>
          <a:p>
            <a:pPr marL="285750" indent="-228600">
              <a:buFont typeface="Arial" panose="020B0604020202020204" pitchFamily="34" charset="0"/>
              <a:buChar char="•"/>
            </a:pPr>
            <a:r>
              <a:rPr lang="en-US" sz="1800"/>
              <a:t>Accuracy: 92.71%</a:t>
            </a:r>
          </a:p>
          <a:p>
            <a:pPr marL="285750" indent="-228600">
              <a:buFont typeface="Arial" panose="020B0604020202020204" pitchFamily="34" charset="0"/>
              <a:buChar char="•"/>
            </a:pPr>
            <a:r>
              <a:rPr lang="en-US" sz="1800"/>
              <a:t>95% CI Accuracy: (0.9218, 0.9321)</a:t>
            </a:r>
          </a:p>
          <a:p>
            <a:pPr marL="285750" indent="-228600">
              <a:buFont typeface="Arial" panose="020B0604020202020204" pitchFamily="34" charset="0"/>
              <a:buChar char="•"/>
            </a:pPr>
            <a:r>
              <a:rPr lang="en-US" sz="1800"/>
              <a:t>P-Value [Acc &gt; NIR] : &lt; 2.2e-16</a:t>
            </a:r>
          </a:p>
          <a:p>
            <a:pPr marL="285750" indent="-228600">
              <a:buFont typeface="Arial" panose="020B0604020202020204" pitchFamily="34" charset="0"/>
              <a:buChar char="•"/>
            </a:pPr>
            <a:endParaRPr lang="en-US" sz="1800"/>
          </a:p>
          <a:p>
            <a:pPr marL="285750" indent="-228600">
              <a:buFont typeface="Arial" panose="020B0604020202020204" pitchFamily="34" charset="0"/>
              <a:buChar char="•"/>
            </a:pPr>
            <a:r>
              <a:rPr lang="en-US" sz="1800"/>
              <a:t>Despite the high accuracy, this model would most likely not accurately predict Undesirable, Poor, and Very Poor properties due to the low number of properties with these ratings in the data.</a:t>
            </a:r>
          </a:p>
        </p:txBody>
      </p:sp>
      <p:pic>
        <p:nvPicPr>
          <p:cNvPr id="8" name="Picture Placeholder 7">
            <a:extLst>
              <a:ext uri="{FF2B5EF4-FFF2-40B4-BE49-F238E27FC236}">
                <a16:creationId xmlns:a16="http://schemas.microsoft.com/office/drawing/2014/main" id="{F75D875D-1ACE-697C-73DE-52E464286AF7}"/>
              </a:ext>
            </a:extLst>
          </p:cNvPr>
          <p:cNvPicPr>
            <a:picLocks noGrp="1" noChangeAspect="1"/>
          </p:cNvPicPr>
          <p:nvPr>
            <p:ph type="pic" idx="1"/>
          </p:nvPr>
        </p:nvPicPr>
        <p:blipFill>
          <a:blip r:embed="rId2"/>
          <a:srcRect l="4685" t="-1971" r="721" b="-279"/>
          <a:stretch/>
        </p:blipFill>
        <p:spPr>
          <a:xfrm>
            <a:off x="7572653" y="2383863"/>
            <a:ext cx="3548404" cy="2742448"/>
          </a:xfrm>
          <a:prstGeom prst="rect">
            <a:avLst/>
          </a:prstGeom>
        </p:spPr>
      </p:pic>
      <p:sp>
        <p:nvSpPr>
          <p:cNvPr id="19"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21"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197965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B5CBC9-29D8-3FEF-3F68-59257752E7AB}"/>
              </a:ext>
            </a:extLst>
          </p:cNvPr>
          <p:cNvSpPr>
            <a:spLocks noGrp="1"/>
          </p:cNvSpPr>
          <p:nvPr>
            <p:ph type="title"/>
          </p:nvPr>
        </p:nvSpPr>
        <p:spPr>
          <a:xfrm>
            <a:off x="6392584" y="501651"/>
            <a:ext cx="4434720" cy="1716255"/>
          </a:xfrm>
        </p:spPr>
        <p:txBody>
          <a:bodyPr vert="horz" lIns="91440" tIns="45720" rIns="91440" bIns="45720" rtlCol="0" anchor="b">
            <a:normAutofit/>
          </a:bodyPr>
          <a:lstStyle/>
          <a:p>
            <a:r>
              <a:rPr lang="en-US" sz="3800" kern="1200">
                <a:solidFill>
                  <a:schemeClr val="tx1"/>
                </a:solidFill>
                <a:latin typeface="+mj-lt"/>
                <a:ea typeface="+mj-ea"/>
                <a:cs typeface="+mj-cs"/>
              </a:rPr>
              <a:t>Tree without Depreciation Percent</a:t>
            </a:r>
          </a:p>
        </p:txBody>
      </p:sp>
      <p:sp>
        <p:nvSpPr>
          <p:cNvPr id="16" name="Rectangle 15">
            <a:extLst>
              <a:ext uri="{FF2B5EF4-FFF2-40B4-BE49-F238E27FC236}">
                <a16:creationId xmlns:a16="http://schemas.microsoft.com/office/drawing/2014/main" id="{B5ABDEAA-B248-4182-B67C-A925338E7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65F8EBE-8C9C-EF7B-D47A-D1542F1A5AF1}"/>
              </a:ext>
            </a:extLst>
          </p:cNvPr>
          <p:cNvPicPr>
            <a:picLocks noChangeAspect="1"/>
          </p:cNvPicPr>
          <p:nvPr/>
        </p:nvPicPr>
        <p:blipFill>
          <a:blip r:embed="rId2"/>
          <a:stretch>
            <a:fillRect/>
          </a:stretch>
        </p:blipFill>
        <p:spPr>
          <a:xfrm>
            <a:off x="1766543" y="539762"/>
            <a:ext cx="3452549" cy="2468573"/>
          </a:xfrm>
          <a:prstGeom prst="rect">
            <a:avLst/>
          </a:prstGeom>
        </p:spPr>
      </p:pic>
      <p:sp>
        <p:nvSpPr>
          <p:cNvPr id="18" name="Rectangle 1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descr="A diagram of a number&#10;&#10;Description automatically generated">
            <a:extLst>
              <a:ext uri="{FF2B5EF4-FFF2-40B4-BE49-F238E27FC236}">
                <a16:creationId xmlns:a16="http://schemas.microsoft.com/office/drawing/2014/main" id="{4AE4A8F1-794B-D731-DA88-D350CC4CC691}"/>
              </a:ext>
            </a:extLst>
          </p:cNvPr>
          <p:cNvPicPr>
            <a:picLocks noGrp="1" noChangeAspect="1"/>
          </p:cNvPicPr>
          <p:nvPr>
            <p:ph type="pic" idx="1"/>
          </p:nvPr>
        </p:nvPicPr>
        <p:blipFill>
          <a:blip r:embed="rId3"/>
          <a:srcRect l="4617" r="5013" b="-1487"/>
          <a:stretch/>
        </p:blipFill>
        <p:spPr>
          <a:xfrm>
            <a:off x="1256544" y="3835114"/>
            <a:ext cx="3077428" cy="2468573"/>
          </a:xfrm>
          <a:prstGeom prst="rect">
            <a:avLst/>
          </a:prstGeom>
        </p:spPr>
      </p:pic>
      <p:sp>
        <p:nvSpPr>
          <p:cNvPr id="4" name="Text Placeholder 3">
            <a:extLst>
              <a:ext uri="{FF2B5EF4-FFF2-40B4-BE49-F238E27FC236}">
                <a16:creationId xmlns:a16="http://schemas.microsoft.com/office/drawing/2014/main" id="{F7D91635-048F-8137-9425-564E3ED23D6D}"/>
              </a:ext>
            </a:extLst>
          </p:cNvPr>
          <p:cNvSpPr>
            <a:spLocks noGrp="1"/>
          </p:cNvSpPr>
          <p:nvPr>
            <p:ph type="body" sz="half" idx="2"/>
          </p:nvPr>
        </p:nvSpPr>
        <p:spPr>
          <a:xfrm>
            <a:off x="6392583" y="2645922"/>
            <a:ext cx="4434721" cy="3710427"/>
          </a:xfrm>
        </p:spPr>
        <p:txBody>
          <a:bodyPr vert="horz" lIns="91440" tIns="45720" rIns="91440" bIns="45720" rtlCol="0" anchor="t">
            <a:normAutofit/>
          </a:bodyPr>
          <a:lstStyle/>
          <a:p>
            <a:pPr marL="285750" indent="-228600">
              <a:buFont typeface="Arial" panose="020B0604020202020204" pitchFamily="34" charset="0"/>
              <a:buChar char="•"/>
            </a:pPr>
            <a:r>
              <a:rPr lang="en-US" sz="1800"/>
              <a:t>After seeing that Depreciation Percent accounted for most of the nodes in the previous trees I decided to investigate if this was removed.</a:t>
            </a:r>
          </a:p>
          <a:p>
            <a:pPr marL="285750" indent="-228600">
              <a:buFont typeface="Arial" panose="020B0604020202020204" pitchFamily="34" charset="0"/>
              <a:buChar char="•"/>
            </a:pPr>
            <a:r>
              <a:rPr lang="en-US" sz="1800"/>
              <a:t>Unfortunately, our tree is heavily reliant on this column as seen in the confusion matrix produced after removing this column.</a:t>
            </a:r>
          </a:p>
          <a:p>
            <a:pPr marL="285750" indent="-228600">
              <a:buFont typeface="Arial" panose="020B0604020202020204" pitchFamily="34" charset="0"/>
              <a:buChar char="•"/>
            </a:pPr>
            <a:r>
              <a:rPr lang="en-US" sz="1800"/>
              <a:t>Without using the Depreciation Percent data our overall accuracy drops to an abysmal 50.01%.</a:t>
            </a:r>
          </a:p>
          <a:p>
            <a:pPr marL="285750" indent="-228600">
              <a:buFont typeface="Arial" panose="020B0604020202020204" pitchFamily="34" charset="0"/>
              <a:buChar char="•"/>
            </a:pPr>
            <a:endParaRPr lang="en-US" sz="1800"/>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3511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47231-BDC1-15B2-D05D-19C3EE0B3E5B}"/>
              </a:ext>
            </a:extLst>
          </p:cNvPr>
          <p:cNvSpPr>
            <a:spLocks noGrp="1"/>
          </p:cNvSpPr>
          <p:nvPr>
            <p:ph type="title"/>
          </p:nvPr>
        </p:nvSpPr>
        <p:spPr>
          <a:xfrm>
            <a:off x="1188069" y="381935"/>
            <a:ext cx="4008583" cy="5974414"/>
          </a:xfrm>
        </p:spPr>
        <p:txBody>
          <a:bodyPr anchor="ctr">
            <a:normAutofit/>
          </a:bodyPr>
          <a:lstStyle/>
          <a:p>
            <a:r>
              <a:rPr lang="en-US" sz="6700">
                <a:solidFill>
                  <a:schemeClr val="bg1"/>
                </a:solidFill>
              </a:rPr>
              <a:t>Final Thoughts</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bg1"/>
          </a:solid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bg1"/>
          </a:solidFill>
          <a:ln w="51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bg1"/>
          </a:solidFill>
          <a:ln w="751" cap="flat">
            <a:noFill/>
            <a:prstDash val="solid"/>
            <a:miter/>
          </a:ln>
        </p:spPr>
        <p:txBody>
          <a:bodyPr rtlCol="0" anchor="ctr"/>
          <a:lstStyle/>
          <a:p>
            <a:endParaRPr lang="en-US"/>
          </a:p>
        </p:txBody>
      </p:sp>
      <p:sp>
        <p:nvSpPr>
          <p:cNvPr id="3" name="Picture Placeholder 2">
            <a:extLst>
              <a:ext uri="{FF2B5EF4-FFF2-40B4-BE49-F238E27FC236}">
                <a16:creationId xmlns:a16="http://schemas.microsoft.com/office/drawing/2014/main" id="{DB3C5AA7-FB9A-58D4-29CB-498A591C39A8}"/>
              </a:ext>
            </a:extLst>
          </p:cNvPr>
          <p:cNvSpPr>
            <a:spLocks noGrp="1"/>
          </p:cNvSpPr>
          <p:nvPr>
            <p:ph idx="1"/>
          </p:nvPr>
        </p:nvSpPr>
        <p:spPr>
          <a:xfrm>
            <a:off x="6096000" y="381935"/>
            <a:ext cx="4986955" cy="5974415"/>
          </a:xfrm>
        </p:spPr>
        <p:txBody>
          <a:bodyPr anchor="ctr">
            <a:normAutofit/>
          </a:bodyPr>
          <a:lstStyle/>
          <a:p>
            <a:r>
              <a:rPr lang="en-US" sz="1800"/>
              <a:t>The initial classification tree did an excellent job predicting the CDU Rating when it comes to the categories that were available.</a:t>
            </a:r>
          </a:p>
          <a:p>
            <a:endParaRPr lang="en-US" sz="1800"/>
          </a:p>
          <a:p>
            <a:r>
              <a:rPr lang="en-US" sz="1800"/>
              <a:t>More research is required to determine why Depreciation Percent had such a significant effect on the tree despite having a lower correlation coefficient with the CDU Rating than other predictors.</a:t>
            </a:r>
          </a:p>
          <a:p>
            <a:endParaRPr lang="en-US" sz="1800"/>
          </a:p>
          <a:p>
            <a:r>
              <a:rPr lang="en-US" sz="1800"/>
              <a:t>If future research is conducted ensuring more Poor and Very Poor data points would be useful.</a:t>
            </a:r>
          </a:p>
          <a:p>
            <a:endParaRPr lang="en-US" sz="1800"/>
          </a:p>
          <a:p>
            <a:r>
              <a:rPr lang="en-US" sz="1800"/>
              <a:t>If a sufficient model is created this would be a great tool in determining what is the best way to increase your home's CDU Rating.</a:t>
            </a:r>
          </a:p>
          <a:p>
            <a:endParaRPr lang="en-US" sz="1800"/>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54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057736"/>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1</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GradientVTI</vt:lpstr>
      <vt:lpstr>RICHARDSON HOUSING EXPLORATION</vt:lpstr>
      <vt:lpstr>PowerPoint Presentation</vt:lpstr>
      <vt:lpstr>Glimpse of the Raw Data</vt:lpstr>
      <vt:lpstr>DATA Clean UP</vt:lpstr>
      <vt:lpstr>PowerPoint Presentation</vt:lpstr>
      <vt:lpstr>Housing Value and Living Area Histograms</vt:lpstr>
      <vt:lpstr>PowerPoint Presentation</vt:lpstr>
      <vt:lpstr>PowerPoint Presentation</vt:lpstr>
      <vt:lpstr>PowerPoint Presentation</vt:lpstr>
      <vt:lpstr>PowerPoint Presentation</vt:lpstr>
      <vt:lpstr>Linear regression model exploration</vt:lpstr>
      <vt:lpstr>PowerPoint Presentation</vt:lpstr>
      <vt:lpstr>PowerPoint Presentation</vt:lpstr>
      <vt:lpstr>PowerPoint Presentation</vt:lpstr>
      <vt:lpstr>PowerPoint Presentation</vt:lpstr>
      <vt:lpstr>Evaluating The Stepwise Regressions</vt:lpstr>
      <vt:lpstr>PowerPoint Presentation</vt:lpstr>
      <vt:lpstr>CDU Rating Prediction</vt:lpstr>
      <vt:lpstr>CDU Rating Background</vt:lpstr>
      <vt:lpstr>Data Cleaning</vt:lpstr>
      <vt:lpstr>Correlation</vt:lpstr>
      <vt:lpstr>Classification Tree</vt:lpstr>
      <vt:lpstr>Confusion Matrix</vt:lpstr>
      <vt:lpstr>Tree without Depreciation Percent</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Miller, Alexander Mayor</dc:creator>
  <cp:revision>2</cp:revision>
  <dcterms:created xsi:type="dcterms:W3CDTF">2024-11-18T04:33:27Z</dcterms:created>
  <dcterms:modified xsi:type="dcterms:W3CDTF">2024-11-22T02:05:54Z</dcterms:modified>
</cp:coreProperties>
</file>